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handoutMasterIdLst>
    <p:handoutMasterId r:id="rId26"/>
  </p:handoutMasterIdLst>
  <p:sldIdLst>
    <p:sldId id="257" r:id="rId2"/>
    <p:sldId id="259" r:id="rId3"/>
    <p:sldId id="260" r:id="rId4"/>
    <p:sldId id="273" r:id="rId5"/>
    <p:sldId id="268" r:id="rId6"/>
    <p:sldId id="258" r:id="rId7"/>
    <p:sldId id="272" r:id="rId8"/>
    <p:sldId id="367" r:id="rId9"/>
    <p:sldId id="368" r:id="rId10"/>
    <p:sldId id="369" r:id="rId11"/>
    <p:sldId id="370" r:id="rId12"/>
    <p:sldId id="366" r:id="rId13"/>
    <p:sldId id="365" r:id="rId14"/>
    <p:sldId id="371" r:id="rId15"/>
    <p:sldId id="364" r:id="rId16"/>
    <p:sldId id="267" r:id="rId17"/>
    <p:sldId id="372" r:id="rId18"/>
    <p:sldId id="269" r:id="rId19"/>
    <p:sldId id="373" r:id="rId20"/>
    <p:sldId id="363" r:id="rId21"/>
    <p:sldId id="375" r:id="rId22"/>
    <p:sldId id="271" r:id="rId23"/>
    <p:sldId id="374" r:id="rId24"/>
  </p:sldIdLst>
  <p:sldSz cx="9144000" cy="5143500" type="screen16x9"/>
  <p:notesSz cx="6858000" cy="9144000"/>
  <p:embeddedFontLst>
    <p:embeddedFont>
      <p:font typeface="AngsanaUPC" panose="02020603050405020304" pitchFamily="18" charset="-34"/>
      <p:regular r:id="rId27"/>
      <p:bold r:id="rId28"/>
      <p:italic r:id="rId29"/>
      <p:boldItalic r:id="rId3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9" userDrawn="1">
          <p15:clr>
            <a:srgbClr val="A4A3A4"/>
          </p15:clr>
        </p15:guide>
        <p15:guide id="2" pos="293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vendra Rao Kopparthy" initials="DR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9E50108-A823-4837-94A9-DCDFF4E316D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5388" autoAdjust="0"/>
  </p:normalViewPr>
  <p:slideViewPr>
    <p:cSldViewPr snapToGrid="0">
      <p:cViewPr varScale="1">
        <p:scale>
          <a:sx n="112" d="100"/>
          <a:sy n="112" d="100"/>
        </p:scale>
        <p:origin x="874" y="77"/>
      </p:cViewPr>
      <p:guideLst>
        <p:guide orient="horz" pos="1619"/>
        <p:guide pos="293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t>5/3/2025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t>‹#›</a:t>
            </a:fld>
            <a:endParaRPr lang="en-US"/>
          </a:p>
        </p:txBody>
      </p:sp>
    </p:spTree>
    <p:extLst>
      <p:ext uri="{BB962C8B-B14F-4D97-AF65-F5344CB8AC3E}">
        <p14:creationId xmlns:p14="http://schemas.microsoft.com/office/powerpoint/2010/main" val="11904051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1048729"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730"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38289241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D260BADD-08F5-3515-54F5-5F9D94B84CD9}"/>
            </a:ext>
          </a:extLst>
        </p:cNvPr>
        <p:cNvGrpSpPr/>
        <p:nvPr/>
      </p:nvGrpSpPr>
      <p:grpSpPr>
        <a:xfrm>
          <a:off x="0" y="0"/>
          <a:ext cx="0" cy="0"/>
          <a:chOff x="0" y="0"/>
          <a:chExt cx="0" cy="0"/>
        </a:xfrm>
      </p:grpSpPr>
      <p:sp>
        <p:nvSpPr>
          <p:cNvPr id="1048617" name="Google Shape;146;g10b4baa5265_0_279:notes">
            <a:extLst>
              <a:ext uri="{FF2B5EF4-FFF2-40B4-BE49-F238E27FC236}">
                <a16:creationId xmlns:a16="http://schemas.microsoft.com/office/drawing/2014/main" id="{46A0715E-C411-A4C0-78E1-D7623F46EF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18" name="Google Shape;147;g10b4baa5265_0_279:notes">
            <a:extLst>
              <a:ext uri="{FF2B5EF4-FFF2-40B4-BE49-F238E27FC236}">
                <a16:creationId xmlns:a16="http://schemas.microsoft.com/office/drawing/2014/main" id="{D9AF5036-6CCE-66AC-3747-46FA4BC1A2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4267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3375"/>
            </a:lvl1pPr>
          </a:lstStyle>
          <a:p>
            <a:r>
              <a:rPr lang="en-US"/>
              <a:t>Click to edit Master title style</a:t>
            </a:r>
          </a:p>
        </p:txBody>
      </p:sp>
      <p:sp>
        <p:nvSpPr>
          <p:cNvPr id="3" name="Subtitle 2"/>
          <p:cNvSpPr>
            <a:spLocks noGrp="1"/>
          </p:cNvSpPr>
          <p:nvPr>
            <p:ph type="subTitle" idx="1"/>
          </p:nvPr>
        </p:nvSpPr>
        <p:spPr>
          <a:xfrm>
            <a:off x="1143000" y="2701529"/>
            <a:ext cx="6858000" cy="1241822"/>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3375"/>
            </a:lvl1pPr>
          </a:lstStyle>
          <a:p>
            <a:r>
              <a:rPr lang="en-US"/>
              <a:t>Click to edit Master title style</a:t>
            </a:r>
          </a:p>
        </p:txBody>
      </p:sp>
      <p:sp>
        <p:nvSpPr>
          <p:cNvPr id="3" name="Text Placeholder 2"/>
          <p:cNvSpPr>
            <a:spLocks noGrp="1"/>
          </p:cNvSpPr>
          <p:nvPr>
            <p:ph type="body" idx="1"/>
          </p:nvPr>
        </p:nvSpPr>
        <p:spPr>
          <a:xfrm>
            <a:off x="623888" y="3442097"/>
            <a:ext cx="7886700" cy="1125140"/>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2504"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4296" y="1200150"/>
            <a:ext cx="4032504"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t>5/3/2025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1" y="1260872"/>
            <a:ext cx="3868340" cy="617934"/>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p:cNvSpPr>
            <a:spLocks noGrp="1"/>
          </p:cNvSpPr>
          <p:nvPr>
            <p:ph sz="half" idx="2"/>
          </p:nvPr>
        </p:nvSpPr>
        <p:spPr>
          <a:xfrm>
            <a:off x="629841"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t>5/3/2025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t>5/3/2025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t>5/3/2025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18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t>5/3/2025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1800"/>
            </a:lvl1pPr>
          </a:lstStyle>
          <a:p>
            <a:r>
              <a:rPr lang="en-US"/>
              <a:t>Click to edit Master title style</a:t>
            </a:r>
          </a:p>
        </p:txBody>
      </p:sp>
      <p:sp>
        <p:nvSpPr>
          <p:cNvPr id="3" name="Picture Placeholder 2"/>
          <p:cNvSpPr>
            <a:spLocks noGrp="1"/>
          </p:cNvSpPr>
          <p:nvPr>
            <p:ph type="pic" idx="1"/>
          </p:nvPr>
        </p:nvSpPr>
        <p:spPr>
          <a:xfrm>
            <a:off x="3887391" y="740569"/>
            <a:ext cx="4629150" cy="3655219"/>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t>5/3/2025</a:t>
            </a:fld>
            <a:endParaRPr lang="en-US" dirty="0"/>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5293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t>5/3/2025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t>5/3/2025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t>5/3/2025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457200" y="205979"/>
            <a:ext cx="8229600" cy="85725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457200" y="1200150"/>
            <a:ext cx="8229600" cy="3394472"/>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457200" y="4683919"/>
            <a:ext cx="2133600" cy="357188"/>
          </a:xfrm>
          <a:prstGeom prst="rect">
            <a:avLst/>
          </a:prstGeom>
          <a:noFill/>
          <a:ln w="9525">
            <a:noFill/>
          </a:ln>
        </p:spPr>
        <p:txBody>
          <a:bodyPr/>
          <a:lstStyle>
            <a:lvl1pPr>
              <a:defRPr sz="1050"/>
            </a:lvl1pPr>
          </a:lstStyle>
          <a:p>
            <a:fld id="{B61BEF0D-F0BB-DE4B-95CE-6DB70DBA9567}" type="datetimeFigureOut">
              <a:rPr lang="en-US" smtClean="0"/>
              <a:t>5/3/2025</a:t>
            </a:fld>
            <a:endParaRPr lang="en-US" dirty="0"/>
          </a:p>
        </p:txBody>
      </p:sp>
      <p:sp>
        <p:nvSpPr>
          <p:cNvPr id="1029" name="Footer Placeholder 1028"/>
          <p:cNvSpPr>
            <a:spLocks noGrp="1"/>
          </p:cNvSpPr>
          <p:nvPr>
            <p:ph type="ftr" sz="quarter" idx="3"/>
          </p:nvPr>
        </p:nvSpPr>
        <p:spPr>
          <a:xfrm>
            <a:off x="3124200" y="4683919"/>
            <a:ext cx="2895600" cy="357188"/>
          </a:xfrm>
          <a:prstGeom prst="rect">
            <a:avLst/>
          </a:prstGeom>
          <a:noFill/>
          <a:ln w="9525">
            <a:noFill/>
          </a:ln>
        </p:spPr>
        <p:txBody>
          <a:bodyPr/>
          <a:lstStyle>
            <a:lvl1pPr algn="ctr">
              <a:defRPr sz="1050"/>
            </a:lvl1pPr>
          </a:lstStyle>
          <a:p>
            <a:endParaRPr lang="en-US" dirty="0"/>
          </a:p>
        </p:txBody>
      </p:sp>
      <p:sp>
        <p:nvSpPr>
          <p:cNvPr id="1030" name="Slide Number Placeholder 1029"/>
          <p:cNvSpPr>
            <a:spLocks noGrp="1"/>
          </p:cNvSpPr>
          <p:nvPr>
            <p:ph type="sldNum" sz="quarter" idx="4"/>
          </p:nvPr>
        </p:nvSpPr>
        <p:spPr>
          <a:xfrm>
            <a:off x="6553200" y="4683919"/>
            <a:ext cx="2133600" cy="357188"/>
          </a:xfrm>
          <a:prstGeom prst="rect">
            <a:avLst/>
          </a:prstGeom>
          <a:noFill/>
          <a:ln w="9525">
            <a:noFill/>
          </a:ln>
        </p:spPr>
        <p:txBody>
          <a:bodyPr/>
          <a:lstStyle>
            <a:lvl1pPr algn="r">
              <a:defRPr sz="1050"/>
            </a:lvl1pPr>
          </a:lstStyle>
          <a:p>
            <a:pPr marL="0" lvl="0" indent="0" algn="r" rtl="0">
              <a:spcBef>
                <a:spcPts val="0"/>
              </a:spcBef>
              <a:spcAft>
                <a:spcPts val="0"/>
              </a:spcAft>
              <a:buNone/>
            </a:pPr>
            <a:fld id="{00000000-1234-1234-1234-123412341234}"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marL="0" lvl="0" indent="0" algn="ctr" defTabSz="685800" eaLnBrk="1" fontAlgn="base" latinLnBrk="0" hangingPunct="1">
        <a:lnSpc>
          <a:spcPct val="100000"/>
        </a:lnSpc>
        <a:spcBef>
          <a:spcPct val="0"/>
        </a:spcBef>
        <a:spcAft>
          <a:spcPct val="0"/>
        </a:spcAft>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lnSpc>
          <a:spcPct val="100000"/>
        </a:lnSpc>
        <a:spcBef>
          <a:spcPct val="15000"/>
        </a:spcBef>
        <a:spcAft>
          <a:spcPct val="0"/>
        </a:spcAft>
        <a:buChar char="•"/>
        <a:defRPr sz="2400" b="0" i="0" u="none" kern="1200" baseline="0">
          <a:solidFill>
            <a:schemeClr val="tx1"/>
          </a:solidFill>
          <a:latin typeface="+mn-lt"/>
          <a:ea typeface="+mn-ea"/>
          <a:cs typeface="+mn-cs"/>
        </a:defRPr>
      </a:lvl1pPr>
      <a:lvl2pPr marL="557530" lvl="1" indent="-213995" algn="l" defTabSz="685800" eaLnBrk="1" fontAlgn="base" latinLnBrk="0" hangingPunct="1">
        <a:lnSpc>
          <a:spcPct val="100000"/>
        </a:lnSpc>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1" fontAlgn="base" latinLnBrk="0" hangingPunct="1">
        <a:lnSpc>
          <a:spcPct val="100000"/>
        </a:lnSpc>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5pPr>
      <a:lvl6pPr marL="1885950" lvl="5"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8850" lvl="6"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1750" lvl="7"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4650" lvl="8"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057400" lvl="6"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2400300" lvl="7"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2743200" lvl="8"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3" name="Picture 3"/>
          <p:cNvPicPr>
            <a:picLocks noChangeAspect="1" noChangeArrowheads="1"/>
          </p:cNvPicPr>
          <p:nvPr/>
        </p:nvPicPr>
        <p:blipFill>
          <a:blip r:embed="rId2"/>
          <a:srcRect/>
          <a:stretch>
            <a:fillRect/>
          </a:stretch>
        </p:blipFill>
        <p:spPr bwMode="auto">
          <a:xfrm>
            <a:off x="533399" y="568930"/>
            <a:ext cx="1267834" cy="686237"/>
          </a:xfrm>
          <a:prstGeom prst="rect">
            <a:avLst/>
          </a:prstGeom>
          <a:noFill/>
          <a:ln>
            <a:noFill/>
          </a:ln>
        </p:spPr>
      </p:pic>
      <p:pic>
        <p:nvPicPr>
          <p:cNvPr id="2097154" name="Picture 4" descr="Image result for vrsec"/>
          <p:cNvPicPr>
            <a:picLocks noChangeAspect="1" noChangeArrowheads="1"/>
          </p:cNvPicPr>
          <p:nvPr/>
        </p:nvPicPr>
        <p:blipFill>
          <a:blip r:embed="rId3" cstate="print"/>
          <a:srcRect/>
          <a:stretch>
            <a:fillRect/>
          </a:stretch>
        </p:blipFill>
        <p:spPr bwMode="auto">
          <a:xfrm>
            <a:off x="7762240" y="337899"/>
            <a:ext cx="924560" cy="1074586"/>
          </a:xfrm>
          <a:prstGeom prst="rect">
            <a:avLst/>
          </a:prstGeom>
          <a:noFill/>
        </p:spPr>
      </p:pic>
      <p:sp>
        <p:nvSpPr>
          <p:cNvPr id="1048586" name="TextBox 5"/>
          <p:cNvSpPr txBox="1"/>
          <p:nvPr/>
        </p:nvSpPr>
        <p:spPr>
          <a:xfrm>
            <a:off x="2009654" y="442158"/>
            <a:ext cx="5285167" cy="726440"/>
          </a:xfrm>
          <a:prstGeom prst="rect">
            <a:avLst/>
          </a:prstGeom>
          <a:noFill/>
        </p:spPr>
        <p:txBody>
          <a:bodyPr wrap="square" rtlCol="0">
            <a:spAutoFit/>
          </a:bodyPr>
          <a:lstStyle/>
          <a:p>
            <a:pPr algn="ctr"/>
            <a:r>
              <a:rPr lang="en-IN" sz="2200" b="1">
                <a:solidFill>
                  <a:srgbClr val="0000FF"/>
                </a:solidFill>
                <a:latin typeface="Calibri" panose="020F0502020204030204" pitchFamily="34" charset="0"/>
                <a:cs typeface="Calibri" panose="020F0502020204030204" pitchFamily="34" charset="0"/>
              </a:rPr>
              <a:t>Department of Information Technology</a:t>
            </a:r>
            <a:br>
              <a:rPr lang="en-IN" sz="2200" b="1">
                <a:solidFill>
                  <a:srgbClr val="0000FF"/>
                </a:solidFill>
                <a:latin typeface="Calibri" panose="020F0502020204030204" pitchFamily="34" charset="0"/>
                <a:cs typeface="Calibri" panose="020F0502020204030204" pitchFamily="34" charset="0"/>
              </a:rPr>
            </a:br>
            <a:r>
              <a:rPr lang="en-IN" sz="2200" b="1">
                <a:solidFill>
                  <a:srgbClr val="FF0000"/>
                </a:solidFill>
                <a:latin typeface="Calibri" panose="020F0502020204030204" pitchFamily="34" charset="0"/>
                <a:cs typeface="Calibri" panose="020F0502020204030204" pitchFamily="34" charset="0"/>
              </a:rPr>
              <a:t>V R Siddhartha Engineering College</a:t>
            </a:r>
            <a:endParaRPr lang="en-IN" sz="2200" dirty="0">
              <a:latin typeface="Calibri" panose="020F0502020204030204" pitchFamily="34" charset="0"/>
              <a:cs typeface="Calibri" panose="020F0502020204030204" pitchFamily="34" charset="0"/>
            </a:endParaRPr>
          </a:p>
        </p:txBody>
      </p:sp>
      <p:sp>
        <p:nvSpPr>
          <p:cNvPr id="1048588" name="TextBox 7"/>
          <p:cNvSpPr txBox="1"/>
          <p:nvPr/>
        </p:nvSpPr>
        <p:spPr>
          <a:xfrm>
            <a:off x="2084404" y="2263561"/>
            <a:ext cx="5163032" cy="615553"/>
          </a:xfrm>
          <a:prstGeom prst="rect">
            <a:avLst/>
          </a:prstGeom>
          <a:noFill/>
        </p:spPr>
        <p:txBody>
          <a:bodyPr wrap="square" rtlCol="0">
            <a:spAutoFit/>
          </a:bodyPr>
          <a:lstStyle/>
          <a:p>
            <a:pPr algn="ctr"/>
            <a:r>
              <a:rPr lang="en-US" sz="1700" b="1" dirty="0" err="1">
                <a:solidFill>
                  <a:srgbClr val="FF0000"/>
                </a:solidFill>
              </a:rPr>
              <a:t>B.Tech</a:t>
            </a:r>
            <a:r>
              <a:rPr lang="en-US" sz="1700" b="1" dirty="0">
                <a:solidFill>
                  <a:srgbClr val="FF0000"/>
                </a:solidFill>
              </a:rPr>
              <a:t> in Information Technology</a:t>
            </a:r>
          </a:p>
          <a:p>
            <a:pPr algn="ctr"/>
            <a:r>
              <a:rPr lang="en-US" sz="1700" b="1" dirty="0">
                <a:solidFill>
                  <a:srgbClr val="BF11A6"/>
                </a:solidFill>
              </a:rPr>
              <a:t>Project Review Presentation</a:t>
            </a:r>
          </a:p>
        </p:txBody>
      </p:sp>
      <p:sp>
        <p:nvSpPr>
          <p:cNvPr id="1048589" name="Subtitle 2"/>
          <p:cNvSpPr txBox="1"/>
          <p:nvPr/>
        </p:nvSpPr>
        <p:spPr>
          <a:xfrm>
            <a:off x="896620" y="3132455"/>
            <a:ext cx="7510780" cy="982980"/>
          </a:xfrm>
          <a:prstGeom prst="rect">
            <a:avLst/>
          </a:prstGeom>
        </p:spPr>
        <p:txBody>
          <a:bodyPr vert="horz" lIns="91440" tIns="45720" rIns="91440" bIns="45720" rtlCol="0">
            <a:normAutofit/>
          </a:bodyPr>
          <a:lstStyle>
            <a:lvl1pPr marL="171450" indent="-137160" algn="l" defTabSz="685800" rtl="0" eaLnBrk="1" latinLnBrk="0" hangingPunct="1">
              <a:lnSpc>
                <a:spcPct val="90000"/>
              </a:lnSpc>
              <a:spcBef>
                <a:spcPts val="1050"/>
              </a:spcBef>
              <a:buClr>
                <a:schemeClr val="accent1"/>
              </a:buClr>
              <a:buSzPct val="80000"/>
              <a:buFont typeface="Corbel" panose="020B0503020204020204" pitchFamily="34" charset="0"/>
              <a:buChar char="•"/>
              <a:defRPr sz="165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5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35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200" kern="1200">
                <a:solidFill>
                  <a:schemeClr val="accent1"/>
                </a:solidFill>
                <a:latin typeface="+mn-lt"/>
                <a:ea typeface="+mn-ea"/>
                <a:cs typeface="+mn-cs"/>
              </a:defRPr>
            </a:lvl4pPr>
            <a:lvl5pPr marL="96012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200" kern="1200">
                <a:solidFill>
                  <a:schemeClr val="accent1"/>
                </a:solidFill>
                <a:latin typeface="+mn-lt"/>
                <a:ea typeface="+mn-ea"/>
                <a:cs typeface="+mn-cs"/>
              </a:defRPr>
            </a:lvl5pPr>
            <a:lvl6pPr marL="120015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200" kern="1200">
                <a:solidFill>
                  <a:schemeClr val="accent1"/>
                </a:solidFill>
                <a:latin typeface="+mn-lt"/>
                <a:ea typeface="+mn-ea"/>
                <a:cs typeface="+mn-cs"/>
              </a:defRPr>
            </a:lvl6pPr>
            <a:lvl7pPr marL="142494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200" kern="1200">
                <a:solidFill>
                  <a:schemeClr val="accent1"/>
                </a:solidFill>
                <a:latin typeface="+mn-lt"/>
                <a:ea typeface="+mn-ea"/>
                <a:cs typeface="+mn-cs"/>
              </a:defRPr>
            </a:lvl7pPr>
            <a:lvl8pPr marL="164973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200" kern="1200">
                <a:solidFill>
                  <a:schemeClr val="accent1"/>
                </a:solidFill>
                <a:latin typeface="+mn-lt"/>
                <a:ea typeface="+mn-ea"/>
                <a:cs typeface="+mn-cs"/>
              </a:defRPr>
            </a:lvl8pPr>
            <a:lvl9pPr marL="1875155"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200" kern="1200">
                <a:solidFill>
                  <a:schemeClr val="accent1"/>
                </a:solidFill>
                <a:latin typeface="+mn-lt"/>
                <a:ea typeface="+mn-ea"/>
                <a:cs typeface="+mn-cs"/>
              </a:defRPr>
            </a:lvl9pPr>
          </a:lstStyle>
          <a:p>
            <a:pPr marL="34290" indent="0" algn="ctr">
              <a:spcBef>
                <a:spcPts val="0"/>
              </a:spcBef>
              <a:buNone/>
            </a:pPr>
            <a:r>
              <a:rPr lang="en-US" sz="2400">
                <a:solidFill>
                  <a:schemeClr val="tx1"/>
                </a:solidFill>
                <a:cs typeface="AngsanaUPC" panose="02020603050405020304" pitchFamily="18" charset="-34"/>
              </a:rPr>
              <a:t>Presented by</a:t>
            </a:r>
            <a:endParaRPr lang="en-US" sz="2400" dirty="0">
              <a:solidFill>
                <a:schemeClr val="tx1"/>
              </a:solidFill>
              <a:cs typeface="AngsanaUPC" panose="02020603050405020304" pitchFamily="18" charset="-34"/>
            </a:endParaRPr>
          </a:p>
          <a:p>
            <a:pPr marL="34290" indent="0" algn="ctr">
              <a:spcBef>
                <a:spcPts val="0"/>
              </a:spcBef>
              <a:buNone/>
            </a:pPr>
            <a:r>
              <a:rPr lang="en-US" sz="2000" dirty="0" err="1">
                <a:solidFill>
                  <a:srgbClr val="7030A0"/>
                </a:solidFill>
                <a:latin typeface="Times New Roman" panose="02020603050405020304" pitchFamily="18" charset="0"/>
                <a:cs typeface="Times New Roman" panose="02020603050405020304" pitchFamily="18" charset="0"/>
                <a:sym typeface="+mn-ea"/>
              </a:rPr>
              <a:t>R</a:t>
            </a:r>
            <a:r>
              <a:rPr lang="en-US" sz="2000" err="1">
                <a:solidFill>
                  <a:srgbClr val="7030A0"/>
                </a:solidFill>
                <a:latin typeface="Times New Roman" panose="02020603050405020304" pitchFamily="18" charset="0"/>
                <a:cs typeface="Times New Roman" panose="02020603050405020304" pitchFamily="18" charset="0"/>
                <a:sym typeface="+mn-ea"/>
              </a:rPr>
              <a:t>.</a:t>
            </a:r>
            <a:r>
              <a:rPr lang="en-US" sz="2000">
                <a:solidFill>
                  <a:srgbClr val="7030A0"/>
                </a:solidFill>
                <a:latin typeface="Times New Roman" panose="02020603050405020304" pitchFamily="18" charset="0"/>
                <a:cs typeface="Times New Roman" panose="02020603050405020304" pitchFamily="18" charset="0"/>
                <a:sym typeface="+mn-ea"/>
              </a:rPr>
              <a:t>Harathi            (</a:t>
            </a:r>
            <a:r>
              <a:rPr lang="en-US" sz="2000" dirty="0">
                <a:solidFill>
                  <a:srgbClr val="7030A0"/>
                </a:solidFill>
                <a:latin typeface="Times New Roman" panose="02020603050405020304" pitchFamily="18" charset="0"/>
                <a:cs typeface="Times New Roman" panose="02020603050405020304" pitchFamily="18" charset="0"/>
                <a:sym typeface="+mn-ea"/>
              </a:rPr>
              <a:t>228w5a1207)</a:t>
            </a:r>
            <a:endParaRPr lang="zh-CN" altLang="en-US" sz="2000" dirty="0"/>
          </a:p>
          <a:p>
            <a:pPr marL="34290" indent="0" algn="ctr">
              <a:spcBef>
                <a:spcPts val="0"/>
              </a:spcBef>
              <a:buNone/>
            </a:pPr>
            <a:r>
              <a:rPr lang="en-US" sz="2000" dirty="0" err="1">
                <a:solidFill>
                  <a:srgbClr val="7030A0"/>
                </a:solidFill>
                <a:latin typeface="Times New Roman" panose="02020603050405020304" pitchFamily="18" charset="0"/>
                <a:cs typeface="Times New Roman" panose="02020603050405020304" pitchFamily="18" charset="0"/>
              </a:rPr>
              <a:t>S</a:t>
            </a:r>
            <a:r>
              <a:rPr lang="en-US" sz="2000" err="1">
                <a:solidFill>
                  <a:srgbClr val="7030A0"/>
                </a:solidFill>
                <a:latin typeface="Times New Roman" panose="02020603050405020304" pitchFamily="18" charset="0"/>
                <a:cs typeface="Times New Roman" panose="02020603050405020304" pitchFamily="18" charset="0"/>
              </a:rPr>
              <a:t>.</a:t>
            </a:r>
            <a:r>
              <a:rPr lang="en-US" sz="2000">
                <a:solidFill>
                  <a:srgbClr val="7030A0"/>
                </a:solidFill>
                <a:latin typeface="Times New Roman" panose="02020603050405020304" pitchFamily="18" charset="0"/>
                <a:cs typeface="Times New Roman" panose="02020603050405020304" pitchFamily="18" charset="0"/>
              </a:rPr>
              <a:t>Sashank Sai     (</a:t>
            </a:r>
            <a:r>
              <a:rPr lang="en-US" sz="2000" dirty="0">
                <a:solidFill>
                  <a:srgbClr val="7030A0"/>
                </a:solidFill>
                <a:latin typeface="Times New Roman" panose="02020603050405020304" pitchFamily="18" charset="0"/>
                <a:cs typeface="Times New Roman" panose="02020603050405020304" pitchFamily="18" charset="0"/>
              </a:rPr>
              <a:t>218w1a1256)</a:t>
            </a:r>
          </a:p>
          <a:p>
            <a:pPr marL="34290" indent="0" algn="ctr">
              <a:spcBef>
                <a:spcPts val="0"/>
              </a:spcBef>
              <a:buNone/>
            </a:pPr>
            <a:endParaRPr lang="en-US" sz="2000" dirty="0">
              <a:solidFill>
                <a:srgbClr val="7030A0"/>
              </a:solidFill>
              <a:latin typeface="Times New Roman" panose="02020603050405020304" pitchFamily="18" charset="0"/>
              <a:cs typeface="Times New Roman" panose="02020603050405020304" pitchFamily="18" charset="0"/>
            </a:endParaRPr>
          </a:p>
          <a:p>
            <a:pPr marL="34290" indent="0">
              <a:spcBef>
                <a:spcPts val="0"/>
              </a:spcBef>
              <a:buNone/>
            </a:pPr>
            <a:endParaRPr lang="en-US" dirty="0"/>
          </a:p>
        </p:txBody>
      </p:sp>
      <p:sp>
        <p:nvSpPr>
          <p:cNvPr id="1048590" name="Rectangle 9"/>
          <p:cNvSpPr/>
          <p:nvPr/>
        </p:nvSpPr>
        <p:spPr>
          <a:xfrm>
            <a:off x="2366237" y="4274170"/>
            <a:ext cx="4572000" cy="615553"/>
          </a:xfrm>
          <a:prstGeom prst="rect">
            <a:avLst/>
          </a:prstGeom>
        </p:spPr>
        <p:txBody>
          <a:bodyPr>
            <a:spAutoFit/>
          </a:bodyPr>
          <a:lstStyle/>
          <a:p>
            <a:pPr algn="ctr"/>
            <a:r>
              <a:rPr lang="en-US" sz="1600" dirty="0">
                <a:cs typeface="AngsanaUPC" panose="02020603050405020304" pitchFamily="18" charset="-34"/>
              </a:rPr>
              <a:t>Under the guidance of </a:t>
            </a:r>
          </a:p>
          <a:p>
            <a:pPr algn="ctr"/>
            <a:r>
              <a:rPr lang="en-US" b="1" dirty="0" err="1">
                <a:latin typeface="+mj-lt"/>
                <a:ea typeface="Batang"/>
              </a:rPr>
              <a:t>Dr.Ch.SubbaReddy</a:t>
            </a:r>
            <a:r>
              <a:rPr lang="en-US" sz="1800" b="1" dirty="0">
                <a:latin typeface="+mj-lt"/>
                <a:ea typeface="Batang"/>
              </a:rPr>
              <a:t>,</a:t>
            </a:r>
            <a:r>
              <a:rPr lang="en-US" sz="1800" b="1" dirty="0">
                <a:solidFill>
                  <a:srgbClr val="FF0000"/>
                </a:solidFill>
                <a:latin typeface="+mj-lt"/>
                <a:ea typeface="Batang"/>
                <a:cs typeface="AngsanaUPC" panose="02020603050405020304" pitchFamily="18" charset="-34"/>
              </a:rPr>
              <a:t> </a:t>
            </a:r>
            <a:r>
              <a:rPr lang="en-US" sz="1800" dirty="0">
                <a:latin typeface="+mj-lt"/>
                <a:ea typeface="Batang"/>
              </a:rPr>
              <a:t>Assistant Professor</a:t>
            </a:r>
            <a:endParaRPr lang="en-US" b="1" dirty="0">
              <a:solidFill>
                <a:srgbClr val="FF0000"/>
              </a:solidFill>
              <a:cs typeface="AngsanaUPC" panose="02020603050405020304" pitchFamily="18" charset="-34"/>
            </a:endParaRPr>
          </a:p>
        </p:txBody>
      </p:sp>
      <p:sp>
        <p:nvSpPr>
          <p:cNvPr id="2" name="Rectangle 2">
            <a:extLst>
              <a:ext uri="{FF2B5EF4-FFF2-40B4-BE49-F238E27FC236}">
                <a16:creationId xmlns:a16="http://schemas.microsoft.com/office/drawing/2014/main" id="{5610C796-49CC-441D-7097-4352E9726BDA}"/>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01435" tIns="38088" rIns="-58719" bIns="0" numCol="1" anchor="ctr" anchorCtr="0" compatLnSpc="1">
            <a:prstTxWarp prst="textNoShape">
              <a:avLst/>
            </a:prstTxWarp>
            <a:spAutoFit/>
          </a:bodyPr>
          <a:lstStyle/>
          <a:p>
            <a:endParaRPr lang="en-IN"/>
          </a:p>
        </p:txBody>
      </p:sp>
      <p:sp>
        <p:nvSpPr>
          <p:cNvPr id="3" name="Rectangle 3">
            <a:extLst>
              <a:ext uri="{FF2B5EF4-FFF2-40B4-BE49-F238E27FC236}">
                <a16:creationId xmlns:a16="http://schemas.microsoft.com/office/drawing/2014/main" id="{BC3CAC70-0D46-D044-3BB2-89C651D89191}"/>
              </a:ext>
            </a:extLst>
          </p:cNvPr>
          <p:cNvSpPr>
            <a:spLocks noChangeArrowheads="1"/>
          </p:cNvSpPr>
          <p:nvPr/>
        </p:nvSpPr>
        <p:spPr bwMode="auto">
          <a:xfrm>
            <a:off x="1082631" y="1440211"/>
            <a:ext cx="7166578" cy="530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35" tIns="38088" rIns="-58719" bIns="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SMART ASSISTIVE SYSTEM FOR REAL-TIME AV INTERACTION AND HOME AUTOMATION USING RASPBERRY PI AND ARDUINO</a:t>
            </a:r>
            <a:endPar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Title 1"/>
          <p:cNvSpPr>
            <a:spLocks noGrp="1"/>
          </p:cNvSpPr>
          <p:nvPr>
            <p:ph type="title"/>
          </p:nvPr>
        </p:nvSpPr>
        <p:spPr>
          <a:xfrm>
            <a:off x="638516" y="833332"/>
            <a:ext cx="7406640" cy="793810"/>
          </a:xfrm>
        </p:spPr>
        <p:txBody>
          <a:bodyPr>
            <a:normAutofit/>
          </a:bodyPr>
          <a:lstStyle/>
          <a:p>
            <a:r>
              <a:rPr lang="en-IN" sz="2800" b="1">
                <a:latin typeface="Times New Roman" panose="02020603050405020304" pitchFamily="18" charset="0"/>
                <a:cs typeface="Times New Roman" panose="02020603050405020304" pitchFamily="18" charset="0"/>
              </a:rPr>
              <a:t>Problem Statement</a:t>
            </a:r>
            <a:endParaRPr lang="en-IN" sz="2800" b="1" dirty="0">
              <a:latin typeface="Times New Roman" panose="02020603050405020304" pitchFamily="18" charset="0"/>
              <a:cs typeface="Times New Roman" panose="02020603050405020304" pitchFamily="18" charset="0"/>
            </a:endParaRPr>
          </a:p>
        </p:txBody>
      </p:sp>
      <p:sp>
        <p:nvSpPr>
          <p:cNvPr id="1048594" name="Content Placeholder 2"/>
          <p:cNvSpPr>
            <a:spLocks noGrp="1"/>
          </p:cNvSpPr>
          <p:nvPr>
            <p:ph idx="1"/>
          </p:nvPr>
        </p:nvSpPr>
        <p:spPr>
          <a:xfrm>
            <a:off x="728345" y="1862455"/>
            <a:ext cx="7998460" cy="1960245"/>
          </a:xfrm>
        </p:spPr>
        <p:txBody>
          <a:bodyPr>
            <a:noAutofit/>
          </a:bodyPr>
          <a:lstStyle/>
          <a:p>
            <a:pPr marL="0" indent="457200" algn="just">
              <a:buNone/>
            </a:pPr>
            <a:r>
              <a:rPr lang="en-US" sz="1400" dirty="0">
                <a:latin typeface="Calibri" panose="020F0502020204030204" pitchFamily="34" charset="0"/>
                <a:ea typeface="Calibri" panose="020F0502020204030204" pitchFamily="34" charset="0"/>
                <a:cs typeface="Calibri" panose="020F0502020204030204" pitchFamily="34" charset="0"/>
              </a:rPr>
              <a:t>Our project integrates smart home automation with enhanced remote communication, addressing the need for efficient interaction at the doorstep and convenient appliance control. Smart home automation enables remote monitoring and management of devices like lighting and security systems through internet-connected devices. This system uses technologies such as </a:t>
            </a:r>
            <a:r>
              <a:rPr lang="en-US" sz="1400" dirty="0" err="1">
                <a:latin typeface="Calibri" panose="020F0502020204030204" pitchFamily="34" charset="0"/>
                <a:ea typeface="Calibri" panose="020F0502020204030204" pitchFamily="34" charset="0"/>
                <a:cs typeface="Calibri" panose="020F0502020204030204" pitchFamily="34" charset="0"/>
              </a:rPr>
              <a:t>WiFi</a:t>
            </a:r>
            <a:r>
              <a:rPr lang="en-US" sz="1400" dirty="0">
                <a:latin typeface="Calibri" panose="020F0502020204030204" pitchFamily="34" charset="0"/>
                <a:ea typeface="Calibri" panose="020F0502020204030204" pitchFamily="34" charset="0"/>
                <a:cs typeface="Calibri" panose="020F0502020204030204" pitchFamily="34" charset="0"/>
              </a:rPr>
              <a:t> and IoT to ensure reliability and cost-effectiveness. By combining automation with real-time communication features, users can receive notifications and interact with visitors remotely, reducing missed deliveries and misunderstandings. This comprehensive system aims to bridge affordability and functionality, making smart home technology more accessible and interactive for diverse user needs. It enhances security, comfort, and energy efficiency while providing a seamless user experience.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Title 1"/>
          <p:cNvSpPr>
            <a:spLocks noGrp="1"/>
          </p:cNvSpPr>
          <p:nvPr>
            <p:ph type="title"/>
          </p:nvPr>
        </p:nvSpPr>
        <p:spPr>
          <a:xfrm>
            <a:off x="512611" y="904693"/>
            <a:ext cx="7773338" cy="515826"/>
          </a:xfrm>
        </p:spPr>
        <p:txBody>
          <a:bodyPr>
            <a:normAutofit fontScale="90000"/>
          </a:bodyPr>
          <a:lstStyle/>
          <a:p>
            <a:r>
              <a:rPr lang="en-IN" sz="2800" b="1" dirty="0">
                <a:latin typeface="Times New Roman" panose="02020603050405020304" pitchFamily="18" charset="0"/>
                <a:cs typeface="Times New Roman" panose="02020603050405020304" pitchFamily="18" charset="0"/>
              </a:rPr>
              <a:t>Objectives</a:t>
            </a:r>
          </a:p>
        </p:txBody>
      </p:sp>
      <p:sp>
        <p:nvSpPr>
          <p:cNvPr id="1048596" name="Content Placeholder 2"/>
          <p:cNvSpPr>
            <a:spLocks noGrp="1"/>
          </p:cNvSpPr>
          <p:nvPr>
            <p:ph idx="1"/>
          </p:nvPr>
        </p:nvSpPr>
        <p:spPr>
          <a:xfrm>
            <a:off x="706755" y="1633832"/>
            <a:ext cx="7730490" cy="2016148"/>
          </a:xfrm>
        </p:spPr>
        <p:txBody>
          <a:bodyPr>
            <a:noAutofit/>
          </a:bodyPr>
          <a:lstStyle/>
          <a:p>
            <a:pPr algn="just">
              <a:lnSpc>
                <a:spcPct val="150000"/>
              </a:lnSpc>
              <a:buFont typeface="+mj-lt"/>
              <a:buAutoNum type="arabicPeriod"/>
            </a:pPr>
            <a:r>
              <a:rPr lang="en-US" sz="1400" i="0" cap="none" dirty="0">
                <a:effectLst/>
                <a:latin typeface="Calibri" panose="020F0502020204030204" pitchFamily="34" charset="0"/>
                <a:ea typeface="Calibri" panose="020F0502020204030204" pitchFamily="34" charset="0"/>
                <a:cs typeface="Calibri" panose="020F0502020204030204" pitchFamily="34" charset="0"/>
              </a:rPr>
              <a:t>Develop a Remote </a:t>
            </a:r>
            <a:r>
              <a:rPr lang="en-US" sz="1400" dirty="0">
                <a:latin typeface="Calibri" panose="020F0502020204030204" pitchFamily="34" charset="0"/>
                <a:ea typeface="Calibri" panose="020F0502020204030204" pitchFamily="34" charset="0"/>
                <a:cs typeface="Calibri" panose="020F0502020204030204" pitchFamily="34" charset="0"/>
              </a:rPr>
              <a:t>Communication </a:t>
            </a:r>
            <a:r>
              <a:rPr lang="en-US" sz="1400" i="0" cap="none" dirty="0">
                <a:effectLst/>
                <a:latin typeface="Calibri" panose="020F0502020204030204" pitchFamily="34" charset="0"/>
                <a:ea typeface="Calibri" panose="020F0502020204030204" pitchFamily="34" charset="0"/>
                <a:cs typeface="Calibri" panose="020F0502020204030204" pitchFamily="34" charset="0"/>
              </a:rPr>
              <a:t>System</a:t>
            </a:r>
          </a:p>
          <a:p>
            <a:pPr algn="just">
              <a:lnSpc>
                <a:spcPct val="150000"/>
              </a:lnSpc>
              <a:buFont typeface="+mj-lt"/>
              <a:buAutoNum type="arabicPeriod"/>
            </a:pPr>
            <a:r>
              <a:rPr lang="en-US" sz="1400" i="0" cap="none" dirty="0">
                <a:effectLst/>
                <a:latin typeface="Calibri" panose="020F0502020204030204" pitchFamily="34" charset="0"/>
                <a:ea typeface="Calibri" panose="020F0502020204030204" pitchFamily="34" charset="0"/>
                <a:cs typeface="Calibri" panose="020F0502020204030204" pitchFamily="34" charset="0"/>
              </a:rPr>
              <a:t>Implement Audio and Video Monitoring</a:t>
            </a:r>
          </a:p>
          <a:p>
            <a:pPr algn="just">
              <a:lnSpc>
                <a:spcPct val="150000"/>
              </a:lnSpc>
              <a:buFont typeface="+mj-lt"/>
              <a:buAutoNum type="arabicPeriod"/>
            </a:pPr>
            <a:r>
              <a:rPr lang="en-US" sz="1400" i="0" cap="none" dirty="0">
                <a:effectLst/>
                <a:latin typeface="Calibri" panose="020F0502020204030204" pitchFamily="34" charset="0"/>
                <a:ea typeface="Calibri" panose="020F0502020204030204" pitchFamily="34" charset="0"/>
                <a:cs typeface="Calibri" panose="020F0502020204030204" pitchFamily="34" charset="0"/>
              </a:rPr>
              <a:t>Future Integration with a User Friendly Minimal App Interface</a:t>
            </a:r>
            <a:endParaRPr lang="en-US" sz="1400"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buFont typeface="+mj-lt"/>
              <a:buAutoNum type="arabicPeriod"/>
            </a:pPr>
            <a:r>
              <a:rPr lang="en-US" sz="1400" i="0" cap="none"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t>Develop a </a:t>
            </a:r>
            <a:r>
              <a:rPr lang="en-US" sz="1400" i="0" cap="none" dirty="0" err="1">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t>wifi</a:t>
            </a:r>
            <a:r>
              <a:rPr lang="en-US" sz="1400" i="0" cap="none"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t>-based home automation system using </a:t>
            </a:r>
            <a:r>
              <a:rPr lang="en-US" sz="1400" i="0" cap="none" dirty="0" err="1">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t>arduino</a:t>
            </a:r>
            <a:r>
              <a:rPr lang="en-US" sz="1400" i="0" cap="none"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t> and a </a:t>
            </a:r>
            <a:r>
              <a:rPr lang="en-US" sz="1400" i="0" cap="none" dirty="0" err="1">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t>wifi</a:t>
            </a:r>
            <a:r>
              <a:rPr lang="en-US" sz="1400" i="0" cap="none"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t> module to control appliances within a localized network.</a:t>
            </a:r>
          </a:p>
          <a:p>
            <a:pPr algn="just">
              <a:lnSpc>
                <a:spcPct val="150000"/>
              </a:lnSpc>
              <a:buFont typeface="+mj-lt"/>
              <a:buAutoNum type="arabicPeriod"/>
            </a:pPr>
            <a:endParaRPr lang="en-US" sz="1400" i="0" cap="none"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Title 1"/>
          <p:cNvSpPr>
            <a:spLocks noGrp="1"/>
          </p:cNvSpPr>
          <p:nvPr>
            <p:ph type="title"/>
          </p:nvPr>
        </p:nvSpPr>
        <p:spPr>
          <a:xfrm>
            <a:off x="513246" y="765628"/>
            <a:ext cx="7773338" cy="515826"/>
          </a:xfrm>
        </p:spPr>
        <p:txBody>
          <a:bodyPr>
            <a:normAutofit fontScale="90000"/>
          </a:bodyPr>
          <a:lstStyle/>
          <a:p>
            <a:r>
              <a:rPr lang="en-US" altLang="en-IN" sz="2800" b="1" dirty="0">
                <a:latin typeface="Calibri" panose="020F0502020204030204" pitchFamily="34" charset="0"/>
                <a:ea typeface="Calibri" panose="020F0502020204030204" pitchFamily="34" charset="0"/>
                <a:cs typeface="Calibri" panose="020F0502020204030204" pitchFamily="34" charset="0"/>
              </a:rPr>
              <a:t>Outcomes</a:t>
            </a:r>
          </a:p>
        </p:txBody>
      </p:sp>
      <p:sp>
        <p:nvSpPr>
          <p:cNvPr id="1048596" name="Content Placeholder 2"/>
          <p:cNvSpPr>
            <a:spLocks noGrp="1"/>
          </p:cNvSpPr>
          <p:nvPr>
            <p:ph idx="1"/>
          </p:nvPr>
        </p:nvSpPr>
        <p:spPr>
          <a:xfrm>
            <a:off x="716280" y="1680210"/>
            <a:ext cx="7875905" cy="3024505"/>
          </a:xfrm>
        </p:spPr>
        <p:txBody>
          <a:bodyPr>
            <a:noAutofit/>
          </a:bodyPr>
          <a:lstStyle/>
          <a:p>
            <a:pPr algn="just">
              <a:buFont typeface="+mj-lt"/>
              <a:buAutoNum type="arabicPeriod"/>
            </a:pPr>
            <a:r>
              <a:rPr lang="en-US" sz="1400" i="0" cap="none" dirty="0">
                <a:effectLst/>
                <a:latin typeface="Calibri" panose="020F0502020204030204" pitchFamily="34" charset="0"/>
                <a:ea typeface="Calibri" panose="020F0502020204030204" pitchFamily="34" charset="0"/>
                <a:cs typeface="Calibri" panose="020F0502020204030204" pitchFamily="34" charset="0"/>
              </a:rPr>
              <a:t>Remote </a:t>
            </a:r>
            <a:r>
              <a:rPr lang="en-US" sz="1400" dirty="0">
                <a:latin typeface="Calibri" panose="020F0502020204030204" pitchFamily="34" charset="0"/>
                <a:ea typeface="Calibri" panose="020F0502020204030204" pitchFamily="34" charset="0"/>
                <a:cs typeface="Calibri" panose="020F0502020204030204" pitchFamily="34" charset="0"/>
              </a:rPr>
              <a:t>Video and audio access</a:t>
            </a:r>
          </a:p>
          <a:p>
            <a:pPr algn="just">
              <a:buFont typeface="+mj-lt"/>
              <a:buAutoNum type="arabicPeriod"/>
            </a:pPr>
            <a:endParaRPr lang="en-US" sz="1400" dirty="0">
              <a:latin typeface="Calibri" panose="020F0502020204030204" pitchFamily="34" charset="0"/>
              <a:ea typeface="Calibri" panose="020F0502020204030204" pitchFamily="34" charset="0"/>
              <a:cs typeface="Calibri" panose="020F0502020204030204" pitchFamily="34" charset="0"/>
            </a:endParaRPr>
          </a:p>
          <a:p>
            <a:pPr algn="just">
              <a:buFont typeface="+mj-lt"/>
              <a:buAutoNum type="arabicPeriod"/>
            </a:pPr>
            <a:r>
              <a:rPr lang="en-US" sz="1400" i="0" cap="none"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t>Integration of text-to-speech technology</a:t>
            </a:r>
          </a:p>
          <a:p>
            <a:pPr algn="just">
              <a:buFont typeface="+mj-lt"/>
              <a:buAutoNum type="arabicPeriod"/>
            </a:pPr>
            <a:endParaRPr lang="en-US" sz="1400" dirty="0">
              <a:solidFill>
                <a:schemeClr val="accent6">
                  <a:lumMod val="10000"/>
                </a:schemeClr>
              </a:solidFill>
              <a:latin typeface="Calibri" panose="020F0502020204030204" pitchFamily="34" charset="0"/>
              <a:ea typeface="Calibri" panose="020F0502020204030204" pitchFamily="34" charset="0"/>
              <a:cs typeface="Calibri" panose="020F0502020204030204" pitchFamily="34" charset="0"/>
            </a:endParaRPr>
          </a:p>
          <a:p>
            <a:pPr algn="just">
              <a:buFont typeface="+mj-lt"/>
              <a:buAutoNum type="arabicPeriod"/>
            </a:pPr>
            <a:r>
              <a:rPr lang="en-US" sz="1400" i="0" cap="none" dirty="0" err="1">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t>wifi</a:t>
            </a:r>
            <a:r>
              <a:rPr lang="en-US" sz="1400" i="0" cap="none" dirty="0">
                <a:solidFill>
                  <a:schemeClr val="accent6">
                    <a:lumMod val="10000"/>
                  </a:schemeClr>
                </a:solidFill>
                <a:effectLst/>
                <a:latin typeface="Calibri" panose="020F0502020204030204" pitchFamily="34" charset="0"/>
                <a:ea typeface="Calibri" panose="020F0502020204030204" pitchFamily="34" charset="0"/>
                <a:cs typeface="Calibri" panose="020F0502020204030204" pitchFamily="34" charset="0"/>
              </a:rPr>
              <a:t>-based smart home automation system </a:t>
            </a:r>
          </a:p>
          <a:p>
            <a:pPr algn="just">
              <a:buFont typeface="+mj-lt"/>
              <a:buAutoNum type="arabicPeriod"/>
            </a:pPr>
            <a:endParaRPr lang="en-US" sz="1400" i="0" cap="none" dirty="0">
              <a:effectLst/>
              <a:latin typeface="Calibri" panose="020F0502020204030204" pitchFamily="34" charset="0"/>
              <a:ea typeface="Calibri" panose="020F0502020204030204" pitchFamily="34" charset="0"/>
              <a:cs typeface="Calibri" panose="020F0502020204030204" pitchFamily="34" charset="0"/>
            </a:endParaRPr>
          </a:p>
          <a:p>
            <a:pPr algn="just">
              <a:buFont typeface="+mj-lt"/>
              <a:buAutoNum type="arabicPeriod"/>
            </a:pPr>
            <a:r>
              <a:rPr lang="en-US" sz="1400" i="0" cap="none" dirty="0">
                <a:effectLst/>
                <a:latin typeface="Calibri" panose="020F0502020204030204" pitchFamily="34" charset="0"/>
                <a:ea typeface="Calibri" panose="020F0502020204030204" pitchFamily="34" charset="0"/>
                <a:cs typeface="Calibri" panose="020F0502020204030204" pitchFamily="34" charset="0"/>
              </a:rPr>
              <a:t>Remote access of the appliances</a:t>
            </a:r>
          </a:p>
          <a:p>
            <a:pPr algn="just">
              <a:buFont typeface="+mj-lt"/>
              <a:buAutoNum type="arabicPeriod"/>
            </a:pPr>
            <a:endParaRPr lang="en-US" sz="1400" i="0" cap="none" dirty="0">
              <a:effectLst/>
              <a:latin typeface="Calibri" panose="020F0502020204030204" pitchFamily="34" charset="0"/>
              <a:ea typeface="Calibri" panose="020F0502020204030204" pitchFamily="34" charset="0"/>
              <a:cs typeface="Calibri" panose="020F0502020204030204" pitchFamily="34" charset="0"/>
            </a:endParaRPr>
          </a:p>
          <a:p>
            <a:pPr algn="just">
              <a:buFont typeface="+mj-lt"/>
              <a:buAutoNum type="arabicPeriod"/>
            </a:pPr>
            <a:r>
              <a:rPr lang="en-US" sz="1400" i="0" cap="none" dirty="0">
                <a:effectLst/>
                <a:latin typeface="Calibri" panose="020F0502020204030204" pitchFamily="34" charset="0"/>
                <a:ea typeface="Calibri" panose="020F0502020204030204" pitchFamily="34" charset="0"/>
                <a:cs typeface="Calibri" panose="020F0502020204030204" pitchFamily="34" charset="0"/>
              </a:rPr>
              <a:t>Compatibility and user-friendliness </a:t>
            </a:r>
          </a:p>
          <a:p>
            <a:pPr algn="just">
              <a:buFont typeface="+mj-lt"/>
              <a:buAutoNum type="arabicPeriod"/>
            </a:pPr>
            <a:endParaRPr lang="en-US" sz="1400" dirty="0">
              <a:latin typeface="Calibri" panose="020F0502020204030204" pitchFamily="34" charset="0"/>
              <a:ea typeface="Calibri" panose="020F0502020204030204" pitchFamily="34" charset="0"/>
              <a:cs typeface="Calibri" panose="020F0502020204030204" pitchFamily="34" charset="0"/>
            </a:endParaRPr>
          </a:p>
          <a:p>
            <a:pPr algn="just">
              <a:buFont typeface="+mj-lt"/>
              <a:buAutoNum type="arabicPeriod"/>
            </a:pPr>
            <a:endParaRPr lang="en-US" sz="1400" i="0" cap="none" dirty="0">
              <a:effectLst/>
              <a:latin typeface="Calibri" panose="020F0502020204030204" pitchFamily="34" charset="0"/>
              <a:ea typeface="Calibri" panose="020F0502020204030204" pitchFamily="34" charset="0"/>
              <a:cs typeface="Calibri" panose="020F0502020204030204" pitchFamily="34" charset="0"/>
            </a:endParaRPr>
          </a:p>
          <a:p>
            <a:pPr marL="0" indent="0" algn="just">
              <a:buNone/>
            </a:pPr>
            <a:endParaRPr lang="en-US" sz="1400" cap="none"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Title 1"/>
          <p:cNvSpPr>
            <a:spLocks noGrp="1"/>
          </p:cNvSpPr>
          <p:nvPr>
            <p:ph type="title"/>
          </p:nvPr>
        </p:nvSpPr>
        <p:spPr>
          <a:xfrm>
            <a:off x="46008" y="238307"/>
            <a:ext cx="9144000" cy="533553"/>
          </a:xfrm>
        </p:spPr>
        <p:txBody>
          <a:bodyPr>
            <a:normAutofit/>
          </a:bodyPr>
          <a:lstStyle/>
          <a:p>
            <a:r>
              <a:rPr lang="en-US" altLang="en-IN" sz="2800" b="1" dirty="0">
                <a:latin typeface="Calibri" panose="020F0502020204030204" pitchFamily="34" charset="0"/>
                <a:ea typeface="Calibri" panose="020F0502020204030204" pitchFamily="34" charset="0"/>
                <a:cs typeface="Calibri" panose="020F0502020204030204" pitchFamily="34" charset="0"/>
              </a:rPr>
              <a:t>LITERATURE REVIEW</a:t>
            </a:r>
          </a:p>
        </p:txBody>
      </p:sp>
      <p:graphicFrame>
        <p:nvGraphicFramePr>
          <p:cNvPr id="4194304" name="Table 3"/>
          <p:cNvGraphicFramePr>
            <a:graphicFrameLocks noGrp="1"/>
          </p:cNvGraphicFramePr>
          <p:nvPr>
            <p:extLst>
              <p:ext uri="{D42A27DB-BD31-4B8C-83A1-F6EECF244321}">
                <p14:modId xmlns:p14="http://schemas.microsoft.com/office/powerpoint/2010/main" val="2332306895"/>
              </p:ext>
            </p:extLst>
          </p:nvPr>
        </p:nvGraphicFramePr>
        <p:xfrm>
          <a:off x="761553" y="1096911"/>
          <a:ext cx="7876685" cy="3393476"/>
        </p:xfrm>
        <a:graphic>
          <a:graphicData uri="http://schemas.openxmlformats.org/drawingml/2006/table">
            <a:tbl>
              <a:tblPr firstRow="1" bandRow="1">
                <a:tableStyleId>{19E50108-A823-4837-94A9-DCDFF4E316D4}</a:tableStyleId>
              </a:tblPr>
              <a:tblGrid>
                <a:gridCol w="2035997">
                  <a:extLst>
                    <a:ext uri="{9D8B030D-6E8A-4147-A177-3AD203B41FA5}">
                      <a16:colId xmlns:a16="http://schemas.microsoft.com/office/drawing/2014/main" val="20000"/>
                    </a:ext>
                  </a:extLst>
                </a:gridCol>
                <a:gridCol w="1292664">
                  <a:extLst>
                    <a:ext uri="{9D8B030D-6E8A-4147-A177-3AD203B41FA5}">
                      <a16:colId xmlns:a16="http://schemas.microsoft.com/office/drawing/2014/main" val="20001"/>
                    </a:ext>
                  </a:extLst>
                </a:gridCol>
                <a:gridCol w="1264415">
                  <a:extLst>
                    <a:ext uri="{9D8B030D-6E8A-4147-A177-3AD203B41FA5}">
                      <a16:colId xmlns:a16="http://schemas.microsoft.com/office/drawing/2014/main" val="20002"/>
                    </a:ext>
                  </a:extLst>
                </a:gridCol>
                <a:gridCol w="3283609">
                  <a:extLst>
                    <a:ext uri="{9D8B030D-6E8A-4147-A177-3AD203B41FA5}">
                      <a16:colId xmlns:a16="http://schemas.microsoft.com/office/drawing/2014/main" val="20003"/>
                    </a:ext>
                  </a:extLst>
                </a:gridCol>
              </a:tblGrid>
              <a:tr h="558836">
                <a:tc>
                  <a:txBody>
                    <a:bodyPr/>
                    <a:lstStyle/>
                    <a:p>
                      <a:pPr marL="0" indent="0" algn="ctr">
                        <a:buFont typeface="+mj-lt"/>
                        <a:buNone/>
                      </a:pPr>
                      <a:r>
                        <a:rPr lang="en-US" sz="1500" b="1" dirty="0">
                          <a:latin typeface="Calibri" panose="020F0502020204030204" pitchFamily="34" charset="0"/>
                          <a:ea typeface="Calibri" panose="020F0502020204030204" pitchFamily="34" charset="0"/>
                          <a:cs typeface="Calibri" panose="020F0502020204030204" pitchFamily="34" charset="0"/>
                        </a:rPr>
                        <a:t>Tile of paper</a:t>
                      </a:r>
                      <a:endParaRPr lang="en-IN" sz="1500" b="1"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tc>
                  <a:txBody>
                    <a:bodyPr/>
                    <a:lstStyle/>
                    <a:p>
                      <a:pPr algn="ctr"/>
                      <a:r>
                        <a:rPr lang="en-US" sz="1500" b="1" dirty="0">
                          <a:latin typeface="Calibri" panose="020F0502020204030204" pitchFamily="34" charset="0"/>
                          <a:ea typeface="Calibri" panose="020F0502020204030204" pitchFamily="34" charset="0"/>
                          <a:cs typeface="Calibri" panose="020F0502020204030204" pitchFamily="34" charset="0"/>
                        </a:rPr>
                        <a:t>Author</a:t>
                      </a:r>
                      <a:endParaRPr lang="en-IN" sz="1500" b="1"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tc>
                  <a:txBody>
                    <a:bodyPr/>
                    <a:lstStyle/>
                    <a:p>
                      <a:pPr algn="ctr"/>
                      <a:r>
                        <a:rPr lang="en-US" sz="1500" b="1">
                          <a:latin typeface="Calibri" panose="020F0502020204030204" pitchFamily="34" charset="0"/>
                          <a:ea typeface="Calibri" panose="020F0502020204030204" pitchFamily="34" charset="0"/>
                          <a:cs typeface="Calibri" panose="020F0502020204030204" pitchFamily="34" charset="0"/>
                        </a:rPr>
                        <a:t>Published date</a:t>
                      </a:r>
                      <a:endParaRPr lang="en-IN" sz="1500" b="1"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tc>
                  <a:txBody>
                    <a:bodyPr/>
                    <a:lstStyle/>
                    <a:p>
                      <a:pPr algn="ctr"/>
                      <a:r>
                        <a:rPr lang="en-US" sz="1500" b="1">
                          <a:solidFill>
                            <a:schemeClr val="tx1"/>
                          </a:solidFill>
                          <a:latin typeface="Calibri" panose="020F0502020204030204" pitchFamily="34" charset="0"/>
                          <a:ea typeface="Calibri" panose="020F0502020204030204" pitchFamily="34" charset="0"/>
                          <a:cs typeface="Calibri" panose="020F0502020204030204" pitchFamily="34" charset="0"/>
                        </a:rPr>
                        <a:t>Summary </a:t>
                      </a:r>
                      <a:endParaRPr lang="en-IN" sz="15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10000"/>
                  </a:ext>
                </a:extLst>
              </a:tr>
              <a:tr h="254657">
                <a:tc>
                  <a:txBody>
                    <a:bodyPr/>
                    <a:lstStyle/>
                    <a:p>
                      <a:pPr algn="ctr" rtl="0" fontAlgn="b"/>
                      <a:r>
                        <a:rPr lang="en-US" sz="1000" b="1" dirty="0">
                          <a:effectLst/>
                          <a:latin typeface="Calibri" panose="020F0502020204030204" pitchFamily="34" charset="0"/>
                          <a:ea typeface="Calibri" panose="020F0502020204030204" pitchFamily="34" charset="0"/>
                          <a:cs typeface="Calibri" panose="020F0502020204030204" pitchFamily="34" charset="0"/>
                        </a:rPr>
                        <a:t>Automated Surveillance System using Raspberry pi</a:t>
                      </a:r>
                    </a:p>
                  </a:txBody>
                  <a:tcPr marL="22860" marR="22860" marT="15240" marB="152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a:latin typeface="Calibri" panose="020F0502020204030204" pitchFamily="34" charset="0"/>
                          <a:ea typeface="Calibri" panose="020F0502020204030204" pitchFamily="34" charset="0"/>
                          <a:cs typeface="Calibri" panose="020F0502020204030204" pitchFamily="34" charset="0"/>
                        </a:rPr>
                        <a:t>Pallavi Mhaiskar </a:t>
                      </a:r>
                      <a:endParaRPr lang="en-IN" sz="1000" dirty="0">
                        <a:latin typeface="Calibri" panose="020F0502020204030204" pitchFamily="34" charset="0"/>
                        <a:ea typeface="Calibri" panose="020F0502020204030204" pitchFamily="34" charset="0"/>
                        <a:cs typeface="Calibri" panose="020F0502020204030204" pitchFamily="34" charset="0"/>
                      </a:endParaRPr>
                    </a:p>
                    <a:p>
                      <a:pPr algn="ctr"/>
                      <a:r>
                        <a:rPr lang="en-IN" sz="1000">
                          <a:latin typeface="Calibri" panose="020F0502020204030204" pitchFamily="34" charset="0"/>
                          <a:ea typeface="Calibri" panose="020F0502020204030204" pitchFamily="34" charset="0"/>
                          <a:cs typeface="Calibri" panose="020F0502020204030204" pitchFamily="34" charset="0"/>
                        </a:rPr>
                        <a:t>Vaishnavi Lanjewar</a:t>
                      </a:r>
                      <a:endParaRPr lang="en-IN" sz="1000" dirty="0">
                        <a:latin typeface="Calibri" panose="020F0502020204030204" pitchFamily="34" charset="0"/>
                        <a:ea typeface="Calibri" panose="020F0502020204030204" pitchFamily="34" charset="0"/>
                        <a:cs typeface="Calibri" panose="020F0502020204030204" pitchFamily="34" charset="0"/>
                      </a:endParaRPr>
                    </a:p>
                    <a:p>
                      <a:pPr algn="ctr"/>
                      <a:endParaRPr lang="en-IN" sz="10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0" i="0"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10-11 November 2022</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900" b="0" i="0" u="none" strike="noStrike" kern="1200" baseline="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AI technology enables a Raspberry Pi-based Internet monitoring system to overcome traditional surveillance system limitations. The system uses a PIR sensor and image processing for real-time object tracking, enhancing crime prevention and security.</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47352">
                <a:tc>
                  <a:txBody>
                    <a:bodyPr/>
                    <a:lstStyle/>
                    <a:p>
                      <a:pPr algn="ctr"/>
                      <a:r>
                        <a:rPr lang="en-US" sz="1000" b="1" i="0" u="none" kern="1200" baseline="0">
                          <a:solidFill>
                            <a:srgbClr val="000000"/>
                          </a:solidFill>
                          <a:effectLst/>
                          <a:latin typeface="Calibri" panose="020F0502020204030204" pitchFamily="34" charset="0"/>
                          <a:ea typeface="Calibri" panose="020F0502020204030204" pitchFamily="34" charset="0"/>
                          <a:cs typeface="Calibri" panose="020F0502020204030204" pitchFamily="34" charset="0"/>
                        </a:rPr>
                        <a:t>Surveillance Camera using IoT and Raspberry Pi</a:t>
                      </a:r>
                      <a:endParaRPr lang="en-US" sz="1000" b="1" i="0" u="none" kern="1200" baseline="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2860" marR="22860" marT="15240" marB="152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a:latin typeface="Calibri" panose="020F0502020204030204" pitchFamily="34" charset="0"/>
                          <a:ea typeface="Calibri" panose="020F0502020204030204" pitchFamily="34" charset="0"/>
                          <a:cs typeface="Calibri" panose="020F0502020204030204" pitchFamily="34" charset="0"/>
                        </a:rPr>
                        <a:t>Bandi Narasimha Rao; Reddy Sudheer</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0" i="0" u="none" kern="1200" baseline="0">
                          <a:solidFill>
                            <a:srgbClr val="000000"/>
                          </a:solidFill>
                          <a:effectLst/>
                          <a:latin typeface="Calibri" panose="020F0502020204030204" pitchFamily="34" charset="0"/>
                          <a:ea typeface="Calibri" panose="020F0502020204030204" pitchFamily="34" charset="0"/>
                          <a:cs typeface="Calibri" panose="020F0502020204030204" pitchFamily="34" charset="0"/>
                        </a:rPr>
                        <a:t>5-17 July 2020</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900">
                          <a:latin typeface="Calibri" panose="020F0502020204030204" pitchFamily="34" charset="0"/>
                          <a:ea typeface="Calibri" panose="020F0502020204030204" pitchFamily="34" charset="0"/>
                          <a:cs typeface="Calibri" panose="020F0502020204030204" pitchFamily="34" charset="0"/>
                        </a:rPr>
                        <a:t>This paper presents a low-cost system based on Raspberry Pi, with a Motion Detection algorithm in Python. This reduces storage use and costs. The system allows live streaming of video with motion detection, accessible on any web browser or mobile device</a:t>
                      </a:r>
                      <a:r>
                        <a:rPr lang="en-US" sz="900" dirty="0">
                          <a:latin typeface="Calibri" panose="020F0502020204030204" pitchFamily="34" charset="0"/>
                          <a:ea typeface="Calibri" panose="020F0502020204030204" pitchFamily="34" charset="0"/>
                          <a:cs typeface="Calibri" panose="020F0502020204030204" pitchFamily="34" charset="0"/>
                        </a:rPr>
                        <a:t>.</a:t>
                      </a:r>
                      <a:r>
                        <a:rPr lang="en-US" sz="900" b="0" i="0" u="none" kern="1200" baseline="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36573">
                <a:tc>
                  <a:txBody>
                    <a:bodyPr/>
                    <a:lstStyle/>
                    <a:p>
                      <a:pPr algn="ctr" rtl="0" fontAlgn="b"/>
                      <a:r>
                        <a:rPr lang="en-US" sz="1000" b="1">
                          <a:latin typeface="Calibri" panose="020F0502020204030204" pitchFamily="34" charset="0"/>
                          <a:ea typeface="Calibri" panose="020F0502020204030204" pitchFamily="34" charset="0"/>
                          <a:cs typeface="Calibri" panose="020F0502020204030204" pitchFamily="34" charset="0"/>
                        </a:rPr>
                        <a:t>SMART VIDEO DOOR BELL DEVICE WITH TWO WAY AUDIO USING RASPBERRY PI</a:t>
                      </a:r>
                      <a:endParaRPr lang="en-US" sz="1000" b="1" dirty="0">
                        <a:effectLst/>
                        <a:latin typeface="Calibri" panose="020F0502020204030204" pitchFamily="34" charset="0"/>
                        <a:ea typeface="Calibri" panose="020F0502020204030204" pitchFamily="34" charset="0"/>
                        <a:cs typeface="Calibri" panose="020F0502020204030204" pitchFamily="34" charset="0"/>
                      </a:endParaRPr>
                    </a:p>
                  </a:txBody>
                  <a:tcPr marL="22860" marR="22860" marT="15240" marB="152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a:latin typeface="Calibri" panose="020F0502020204030204" pitchFamily="34" charset="0"/>
                          <a:ea typeface="Calibri" panose="020F0502020204030204" pitchFamily="34" charset="0"/>
                          <a:cs typeface="Calibri" panose="020F0502020204030204" pitchFamily="34" charset="0"/>
                        </a:rPr>
                        <a:t>Suvarna Rohile, Amisha Rokade</a:t>
                      </a:r>
                      <a:r>
                        <a:rPr lang="en-IN" sz="1000" dirty="0">
                          <a:latin typeface="Calibri" panose="020F0502020204030204" pitchFamily="34" charset="0"/>
                          <a:ea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0" i="0"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11 November 2021</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900">
                          <a:latin typeface="Calibri" panose="020F0502020204030204" pitchFamily="34" charset="0"/>
                          <a:ea typeface="Calibri" panose="020F0502020204030204" pitchFamily="34" charset="0"/>
                          <a:cs typeface="Calibri" panose="020F0502020204030204" pitchFamily="34" charset="0"/>
                        </a:rPr>
                        <a:t>The paper suggests an IoT doorbell system with security features using Raspberry Pi. It enables remote visitor viewing, image capture, two-way communication via Gmail, and uses MAC encryption for security, aiming for a secure and convenient doorbell solution</a:t>
                      </a:r>
                      <a:r>
                        <a:rPr lang="en-US" sz="900" dirty="0">
                          <a:latin typeface="Calibri" panose="020F0502020204030204" pitchFamily="34" charset="0"/>
                          <a:ea typeface="Calibri" panose="020F0502020204030204" pitchFamily="34" charset="0"/>
                          <a:cs typeface="Calibri" panose="020F0502020204030204" pitchFamily="34" charset="0"/>
                        </a:rPr>
                        <a:t>.</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87252">
                <a:tc>
                  <a:txBody>
                    <a:bodyPr/>
                    <a:lstStyle/>
                    <a:p>
                      <a:pPr algn="ctr"/>
                      <a:r>
                        <a:rPr lang="en-US" sz="1000" b="1" i="0" u="none" kern="1200" baseline="0">
                          <a:solidFill>
                            <a:srgbClr val="000000"/>
                          </a:solidFill>
                          <a:effectLst/>
                          <a:latin typeface="Calibri" panose="020F0502020204030204" pitchFamily="34" charset="0"/>
                          <a:ea typeface="Calibri" panose="020F0502020204030204" pitchFamily="34" charset="0"/>
                          <a:cs typeface="Calibri" panose="020F0502020204030204" pitchFamily="34" charset="0"/>
                        </a:rPr>
                        <a:t>Low cost real-time system monitoring using Raspberry Pi</a:t>
                      </a:r>
                      <a:endParaRPr lang="en-US" sz="1000" b="1" i="0" u="none" kern="1200" baseline="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2860" marR="22860" marT="15240" marB="152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i-FI" sz="1000" b="0" i="0"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Quoc Nguyen Huu</a:t>
                      </a:r>
                      <a:endParaRPr lang="fi-FI" sz="1000" b="0" i="0"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a:latin typeface="Calibri" panose="020F0502020204030204" pitchFamily="34" charset="0"/>
                          <a:ea typeface="Calibri" panose="020F0502020204030204" pitchFamily="34" charset="0"/>
                          <a:cs typeface="Calibri" panose="020F0502020204030204" pitchFamily="34" charset="0"/>
                        </a:rPr>
                        <a:t>7-10 July 2015</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900">
                          <a:latin typeface="Calibri" panose="020F0502020204030204" pitchFamily="34" charset="0"/>
                          <a:ea typeface="Calibri" panose="020F0502020204030204" pitchFamily="34" charset="0"/>
                          <a:cs typeface="Calibri" panose="020F0502020204030204" pitchFamily="34" charset="0"/>
                        </a:rPr>
                        <a:t>A cost-effective surveillance system using Raspberry Pi and motion detection is proposed to improve on traditional CCTV systems. Storage costs are reduced by a Python motion detection algorithm. Accessible via web browsers</a:t>
                      </a:r>
                      <a:r>
                        <a:rPr lang="en-US" sz="900" dirty="0">
                          <a:latin typeface="Calibri" panose="020F0502020204030204" pitchFamily="34" charset="0"/>
                          <a:ea typeface="Calibri" panose="020F0502020204030204" pitchFamily="34" charset="0"/>
                          <a:cs typeface="Calibri" panose="020F0502020204030204" pitchFamily="34" charset="0"/>
                        </a:rPr>
                        <a:t>.</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80853">
                <a:tc>
                  <a:txBody>
                    <a:bodyPr/>
                    <a:lstStyle/>
                    <a:p>
                      <a:pPr algn="ctr"/>
                      <a:r>
                        <a:rPr lang="en-US" sz="1000" b="1" i="0" u="none" kern="1200" baseline="0">
                          <a:solidFill>
                            <a:srgbClr val="000000"/>
                          </a:solidFill>
                          <a:effectLst/>
                          <a:latin typeface="Calibri" panose="020F0502020204030204" pitchFamily="34" charset="0"/>
                          <a:ea typeface="Calibri" panose="020F0502020204030204" pitchFamily="34" charset="0"/>
                          <a:cs typeface="Calibri" panose="020F0502020204030204" pitchFamily="34" charset="0"/>
                        </a:rPr>
                        <a:t>Development of Android Based Mobile Video Conference Application Using Jitsi Meet Platform</a:t>
                      </a:r>
                      <a:endParaRPr lang="en-US" sz="1000" b="1" i="0" u="none" kern="1200" baseline="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2860" marR="22860" marT="15240" marB="152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a:latin typeface="Calibri" panose="020F0502020204030204" pitchFamily="34" charset="0"/>
                          <a:ea typeface="Calibri" panose="020F0502020204030204" pitchFamily="34" charset="0"/>
                          <a:cs typeface="Calibri" panose="020F0502020204030204" pitchFamily="34" charset="0"/>
                        </a:rPr>
                        <a:t>Emre Dandil</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0" i="0" u="none" kern="1200" baseline="0">
                          <a:solidFill>
                            <a:srgbClr val="000000"/>
                          </a:solidFill>
                          <a:effectLst/>
                          <a:latin typeface="Calibri" panose="020F0502020204030204" pitchFamily="34" charset="0"/>
                          <a:ea typeface="Calibri" panose="020F0502020204030204" pitchFamily="34" charset="0"/>
                          <a:cs typeface="Calibri" panose="020F0502020204030204" pitchFamily="34" charset="0"/>
                        </a:rPr>
                        <a:t>June 2021</a:t>
                      </a:r>
                      <a:endParaRPr lang="en-IN" sz="1000" b="0" i="0" u="none" kern="1200" baseline="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900" b="0" i="0" u="none" kern="1200" baseline="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An Android app organizes communication tasks such as meetings, calls, and messaging using </a:t>
                      </a:r>
                      <a:r>
                        <a:rPr lang="en-US" sz="900" b="0" i="0" u="none" kern="1200" baseline="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Jitsi</a:t>
                      </a:r>
                      <a:r>
                        <a:rPr lang="en-US" sz="900" b="0" i="0" u="none" kern="1200" baseline="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Meet for seamless video conferencing.</a:t>
                      </a:r>
                      <a:endParaRPr lang="en-US" sz="900" dirty="0">
                        <a:effectLst/>
                        <a:latin typeface="Calibri" panose="020F0502020204030204" pitchFamily="34" charset="0"/>
                        <a:ea typeface="Calibri" panose="020F0502020204030204" pitchFamily="34" charset="0"/>
                        <a:cs typeface="Calibri" panose="020F0502020204030204" pitchFamily="34" charset="0"/>
                      </a:endParaRP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EC2C3-84F3-8E22-0003-86D6E5B849A2}"/>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8406776-E800-B48E-A9BA-F79446F58728}"/>
              </a:ext>
            </a:extLst>
          </p:cNvPr>
          <p:cNvGraphicFramePr>
            <a:graphicFrameLocks noGrp="1"/>
          </p:cNvGraphicFramePr>
          <p:nvPr>
            <p:extLst>
              <p:ext uri="{D42A27DB-BD31-4B8C-83A1-F6EECF244321}">
                <p14:modId xmlns:p14="http://schemas.microsoft.com/office/powerpoint/2010/main" val="866459031"/>
              </p:ext>
            </p:extLst>
          </p:nvPr>
        </p:nvGraphicFramePr>
        <p:xfrm>
          <a:off x="457200" y="931463"/>
          <a:ext cx="8338442" cy="3804311"/>
        </p:xfrm>
        <a:graphic>
          <a:graphicData uri="http://schemas.openxmlformats.org/drawingml/2006/table">
            <a:tbl>
              <a:tblPr firstRow="1" bandRow="1">
                <a:tableStyleId>{19E50108-A823-4837-94A9-DCDFF4E316D4}</a:tableStyleId>
              </a:tblPr>
              <a:tblGrid>
                <a:gridCol w="1556510">
                  <a:extLst>
                    <a:ext uri="{9D8B030D-6E8A-4147-A177-3AD203B41FA5}">
                      <a16:colId xmlns:a16="http://schemas.microsoft.com/office/drawing/2014/main" val="1002528054"/>
                    </a:ext>
                  </a:extLst>
                </a:gridCol>
                <a:gridCol w="1423019">
                  <a:extLst>
                    <a:ext uri="{9D8B030D-6E8A-4147-A177-3AD203B41FA5}">
                      <a16:colId xmlns:a16="http://schemas.microsoft.com/office/drawing/2014/main" val="455920468"/>
                    </a:ext>
                  </a:extLst>
                </a:gridCol>
                <a:gridCol w="1652155">
                  <a:extLst>
                    <a:ext uri="{9D8B030D-6E8A-4147-A177-3AD203B41FA5}">
                      <a16:colId xmlns:a16="http://schemas.microsoft.com/office/drawing/2014/main" val="833873733"/>
                    </a:ext>
                  </a:extLst>
                </a:gridCol>
                <a:gridCol w="3706758">
                  <a:extLst>
                    <a:ext uri="{9D8B030D-6E8A-4147-A177-3AD203B41FA5}">
                      <a16:colId xmlns:a16="http://schemas.microsoft.com/office/drawing/2014/main" val="1033977154"/>
                    </a:ext>
                  </a:extLst>
                </a:gridCol>
              </a:tblGrid>
              <a:tr h="644039">
                <a:tc>
                  <a:txBody>
                    <a:bodyPr/>
                    <a:lstStyle/>
                    <a:p>
                      <a:pPr marL="0" indent="0" algn="ctr">
                        <a:buFont typeface="+mj-lt"/>
                        <a:buNone/>
                      </a:pPr>
                      <a:r>
                        <a:rPr lang="en-US" sz="1600" b="1" dirty="0">
                          <a:latin typeface="Calibri" panose="020F0502020204030204" pitchFamily="34" charset="0"/>
                          <a:ea typeface="Calibri" panose="020F0502020204030204" pitchFamily="34" charset="0"/>
                          <a:cs typeface="Calibri" panose="020F0502020204030204" pitchFamily="34" charset="0"/>
                        </a:rPr>
                        <a:t>Tile of paper</a:t>
                      </a:r>
                      <a:endParaRPr lang="en-IN" sz="1600" b="1" dirty="0">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latin typeface="Calibri" panose="020F0502020204030204" pitchFamily="34" charset="0"/>
                          <a:ea typeface="Calibri" panose="020F0502020204030204" pitchFamily="34" charset="0"/>
                          <a:cs typeface="Calibri" panose="020F0502020204030204" pitchFamily="34" charset="0"/>
                        </a:rPr>
                        <a:t>Author</a:t>
                      </a:r>
                      <a:endParaRPr lang="en-IN" sz="1600" b="1" dirty="0">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a:latin typeface="Calibri" panose="020F0502020204030204" pitchFamily="34" charset="0"/>
                          <a:ea typeface="Calibri" panose="020F0502020204030204" pitchFamily="34" charset="0"/>
                          <a:cs typeface="Calibri" panose="020F0502020204030204" pitchFamily="34" charset="0"/>
                        </a:rPr>
                        <a:t>Published date</a:t>
                      </a:r>
                      <a:endParaRPr lang="en-IN" sz="1600" b="1" dirty="0">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Summary </a:t>
                      </a:r>
                      <a:endParaRPr lang="en-IN" sz="16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73549494"/>
                  </a:ext>
                </a:extLst>
              </a:tr>
              <a:tr h="857758">
                <a:tc>
                  <a:txBody>
                    <a:bodyPr/>
                    <a:lstStyle/>
                    <a:p>
                      <a:r>
                        <a:rPr lang="en-US" sz="11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IoT based Secure Smart Home Automation System</a:t>
                      </a:r>
                      <a:endParaRPr lang="en-IN" sz="1100" b="1" dirty="0">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2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11-13 February 2022</a:t>
                      </a:r>
                      <a:endParaRPr lang="en-IN" sz="1200" dirty="0">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000" dirty="0" err="1">
                          <a:latin typeface="Calibri" panose="020F0502020204030204" pitchFamily="34" charset="0"/>
                          <a:ea typeface="Calibri" panose="020F0502020204030204" pitchFamily="34" charset="0"/>
                          <a:cs typeface="Calibri" panose="020F0502020204030204" pitchFamily="34" charset="0"/>
                        </a:rPr>
                        <a:t>A.</a:t>
                      </a:r>
                      <a:r>
                        <a:rPr lang="en-IN" sz="1000" err="1">
                          <a:latin typeface="Calibri" panose="020F0502020204030204" pitchFamily="34" charset="0"/>
                          <a:ea typeface="Calibri" panose="020F0502020204030204" pitchFamily="34" charset="0"/>
                          <a:cs typeface="Calibri" panose="020F0502020204030204" pitchFamily="34" charset="0"/>
                        </a:rPr>
                        <a:t>P</a:t>
                      </a:r>
                      <a:r>
                        <a:rPr lang="en-IN" sz="1000">
                          <a:latin typeface="Calibri" panose="020F0502020204030204" pitchFamily="34" charset="0"/>
                          <a:ea typeface="Calibri" panose="020F0502020204030204" pitchFamily="34" charset="0"/>
                          <a:cs typeface="Calibri" panose="020F0502020204030204" pitchFamily="34" charset="0"/>
                        </a:rPr>
                        <a:t>. Nirmala, V. Asha, Paramita Chandra</a:t>
                      </a:r>
                      <a:r>
                        <a:rPr lang="en-IN" sz="1000" dirty="0">
                          <a:latin typeface="Calibri" panose="020F0502020204030204" pitchFamily="34" charset="0"/>
                          <a:ea typeface="Calibri" panose="020F0502020204030204" pitchFamily="34" charset="0"/>
                          <a:cs typeface="Calibri" panose="020F0502020204030204" pitchFamily="34"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The paper presents an IoT-based smart home automation system using Arduino and </a:t>
                      </a:r>
                      <a:r>
                        <a:rPr lang="en-US" sz="900" b="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WiFi</a:t>
                      </a:r>
                      <a:r>
                        <a:rPr lang="en-US"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module, </a:t>
                      </a:r>
                      <a:r>
                        <a:rPr lang="en-US" sz="9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integrating sensors </a:t>
                      </a:r>
                      <a:r>
                        <a:rPr lang="en-US"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(MQ2, TMP36, IR) for safety and monitoring. It enables </a:t>
                      </a:r>
                      <a:r>
                        <a:rPr lang="en-US" sz="9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remote control </a:t>
                      </a:r>
                      <a:r>
                        <a:rPr lang="en-US"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via mobile app and </a:t>
                      </a:r>
                      <a:r>
                        <a:rPr lang="en-US" sz="9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voice commands</a:t>
                      </a:r>
                      <a:r>
                        <a:rPr lang="en-US"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with real-time cloud synchronization. However, it faces </a:t>
                      </a:r>
                      <a:r>
                        <a:rPr lang="en-US" sz="9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limitations</a:t>
                      </a:r>
                      <a:r>
                        <a:rPr lang="en-US"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like scalability issues, basic security, and </a:t>
                      </a:r>
                      <a:r>
                        <a:rPr lang="en-US" sz="900" b="1"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WiFi</a:t>
                      </a:r>
                      <a:r>
                        <a:rPr lang="en-US" sz="9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dependency</a:t>
                      </a:r>
                      <a:r>
                        <a:rPr lang="en-US"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a:t>
                      </a:r>
                      <a:endParaRPr lang="en-IN" sz="900" dirty="0">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92107447"/>
                  </a:ext>
                </a:extLst>
              </a:tr>
              <a:tr h="1036202">
                <a:tc>
                  <a:txBody>
                    <a:bodyPr/>
                    <a:lstStyle/>
                    <a:p>
                      <a:r>
                        <a:rPr lang="en-US" sz="1100" b="1" u="none">
                          <a:solidFill>
                            <a:schemeClr val="tx1"/>
                          </a:solidFill>
                          <a:latin typeface="Calibri" panose="020F0502020204030204" pitchFamily="34" charset="0"/>
                          <a:ea typeface="Calibri" panose="020F0502020204030204" pitchFamily="34" charset="0"/>
                          <a:cs typeface="Calibri" panose="020F0502020204030204" pitchFamily="34" charset="0"/>
                        </a:rPr>
                        <a:t>IoT </a:t>
                      </a:r>
                      <a:r>
                        <a:rPr lang="en-US" sz="1100" b="1" u="none" kern="1200">
                          <a:solidFill>
                            <a:schemeClr val="tx1"/>
                          </a:solidFill>
                          <a:latin typeface="Calibri" panose="020F0502020204030204" pitchFamily="34" charset="0"/>
                          <a:ea typeface="Calibri" panose="020F0502020204030204" pitchFamily="34" charset="0"/>
                          <a:cs typeface="Calibri" panose="020F0502020204030204" pitchFamily="34" charset="0"/>
                        </a:rPr>
                        <a:t>based</a:t>
                      </a:r>
                      <a:r>
                        <a:rPr lang="en-US" sz="1100" b="1" u="none">
                          <a:solidFill>
                            <a:schemeClr val="tx1"/>
                          </a:solidFill>
                          <a:latin typeface="Calibri" panose="020F0502020204030204" pitchFamily="34" charset="0"/>
                          <a:ea typeface="Calibri" panose="020F0502020204030204" pitchFamily="34" charset="0"/>
                          <a:cs typeface="Calibri" panose="020F0502020204030204" pitchFamily="34" charset="0"/>
                        </a:rPr>
                        <a:t> enabling home automation system for individuals with diverse disabilities </a:t>
                      </a:r>
                      <a:endParaRPr lang="en-IN" sz="1100" b="1" u="none"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200" b="0"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December 2023</a:t>
                      </a:r>
                      <a:endParaRPr lang="en-IN" sz="1200" dirty="0">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000" b="0" u="none" strike="noStrike" kern="1200" err="1">
                          <a:solidFill>
                            <a:schemeClr val="dk1"/>
                          </a:solidFill>
                          <a:effectLst/>
                          <a:latin typeface="Calibri" panose="020F0502020204030204" pitchFamily="34" charset="0"/>
                          <a:ea typeface="Calibri" panose="020F0502020204030204" pitchFamily="34" charset="0"/>
                          <a:cs typeface="Calibri" panose="020F0502020204030204" pitchFamily="34" charset="0"/>
                        </a:rPr>
                        <a:t>P</a:t>
                      </a:r>
                      <a:r>
                        <a:rPr lang="en-IN" sz="1000" b="0" u="none" strike="noStrike"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 Anuradha, K. Vasanth</a:t>
                      </a:r>
                      <a:endParaRPr lang="en-IN" sz="1000" b="0" u="none" strike="noStrike"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endParaRPr>
                    </a:p>
                    <a:p>
                      <a:r>
                        <a:rPr lang="en-IN" sz="1000" b="0" u="none" strike="noStrike" kern="1200" err="1">
                          <a:solidFill>
                            <a:schemeClr val="dk1"/>
                          </a:solidFill>
                          <a:effectLst/>
                          <a:latin typeface="Calibri" panose="020F0502020204030204" pitchFamily="34" charset="0"/>
                          <a:ea typeface="Calibri" panose="020F0502020204030204" pitchFamily="34" charset="0"/>
                          <a:cs typeface="Calibri" panose="020F0502020204030204" pitchFamily="34" charset="0"/>
                        </a:rPr>
                        <a:t>G</a:t>
                      </a:r>
                      <a:r>
                        <a:rPr lang="en-IN" sz="1000" b="0" u="none" strike="noStrike"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 Renuka</a:t>
                      </a:r>
                      <a:endParaRPr lang="en-IN" sz="1000" b="0" u="none" strike="noStrike"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endParaRPr>
                    </a:p>
                    <a:p>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b="0"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The paper proposes an </a:t>
                      </a:r>
                      <a:r>
                        <a:rPr lang="en-US" sz="900" b="1"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IoT-based home automation system</a:t>
                      </a:r>
                      <a:r>
                        <a:rPr lang="en-US" sz="900" b="0"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 designed to assist </a:t>
                      </a:r>
                      <a:r>
                        <a:rPr lang="en-US" sz="900" b="1"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individuals with disabilities</a:t>
                      </a:r>
                      <a:r>
                        <a:rPr lang="en-US" sz="900" b="0"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 using </a:t>
                      </a:r>
                      <a:r>
                        <a:rPr lang="en-US" sz="900" b="1"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sensors</a:t>
                      </a:r>
                      <a:r>
                        <a:rPr lang="en-US" sz="900" b="0"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 and </a:t>
                      </a:r>
                      <a:r>
                        <a:rPr lang="en-US" sz="900" b="1"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IoT modules</a:t>
                      </a:r>
                      <a:r>
                        <a:rPr lang="en-US" sz="900" b="0"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 for accessibility. It focuses on </a:t>
                      </a:r>
                      <a:r>
                        <a:rPr lang="en-US" sz="900" b="1"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voice control</a:t>
                      </a:r>
                      <a:r>
                        <a:rPr lang="en-US" sz="900" b="0"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 </a:t>
                      </a:r>
                      <a:r>
                        <a:rPr lang="en-US" sz="900" b="1"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remote monitoring</a:t>
                      </a:r>
                      <a:r>
                        <a:rPr lang="en-US" sz="900" b="0"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 and </a:t>
                      </a:r>
                      <a:r>
                        <a:rPr lang="en-US" sz="900" b="1"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customizable interfaces</a:t>
                      </a:r>
                      <a:r>
                        <a:rPr lang="en-US" sz="900" b="0"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 to cater to diverse needs. However, it faces challenges like </a:t>
                      </a:r>
                      <a:r>
                        <a:rPr lang="en-US" sz="900" b="1"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complex setup</a:t>
                      </a:r>
                      <a:r>
                        <a:rPr lang="en-US" sz="900" b="0"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 </a:t>
                      </a:r>
                      <a:r>
                        <a:rPr lang="en-US" sz="900" b="1"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cost constraints</a:t>
                      </a:r>
                      <a:r>
                        <a:rPr lang="en-US" sz="900" b="0"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 and </a:t>
                      </a:r>
                      <a:r>
                        <a:rPr lang="en-US" sz="900" b="1"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dependency on stable internet connectivity</a:t>
                      </a:r>
                      <a:endParaRPr lang="en-IN" sz="900" dirty="0">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670033"/>
                  </a:ext>
                </a:extLst>
              </a:tr>
              <a:tr h="1266312">
                <a:tc>
                  <a:txBody>
                    <a:bodyPr/>
                    <a:lstStyle/>
                    <a:p>
                      <a:r>
                        <a:rPr lang="en-US" sz="11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Smart home automation system using Arduino microcontrollers</a:t>
                      </a:r>
                      <a:endParaRPr lang="en-IN" sz="1100" b="1" dirty="0">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2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01 July 2020</a:t>
                      </a:r>
                      <a:endParaRPr lang="en-IN" sz="1200" dirty="0">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0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D. -I. Gota, A. Puscasiu</a:t>
                      </a:r>
                      <a:endParaRPr lang="en-IN" sz="1000" dirty="0">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The paper presents an </a:t>
                      </a:r>
                      <a:r>
                        <a:rPr lang="en-US" sz="9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IoT-based smart home system</a:t>
                      </a:r>
                      <a:r>
                        <a:rPr lang="en-US"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using </a:t>
                      </a:r>
                      <a:r>
                        <a:rPr lang="en-US" sz="9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Arduino</a:t>
                      </a:r>
                      <a:r>
                        <a:rPr lang="en-US"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and </a:t>
                      </a:r>
                      <a:r>
                        <a:rPr lang="en-US" sz="900" b="1"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WiFi</a:t>
                      </a:r>
                      <a:r>
                        <a:rPr lang="en-US" sz="9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modules</a:t>
                      </a:r>
                      <a:r>
                        <a:rPr lang="en-US"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for </a:t>
                      </a:r>
                      <a:r>
                        <a:rPr lang="en-US" sz="9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appliance automation</a:t>
                      </a:r>
                      <a:r>
                        <a:rPr lang="en-US"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and </a:t>
                      </a:r>
                      <a:r>
                        <a:rPr lang="en-US" sz="9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remote monitoring</a:t>
                      </a:r>
                      <a:r>
                        <a:rPr lang="en-US"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It integrates </a:t>
                      </a:r>
                      <a:r>
                        <a:rPr lang="en-US" sz="9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sensors</a:t>
                      </a:r>
                      <a:r>
                        <a:rPr lang="en-US"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for environmental control and emphasizes </a:t>
                      </a:r>
                      <a:r>
                        <a:rPr lang="en-US" sz="9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user-friendly interfaces</a:t>
                      </a:r>
                      <a:r>
                        <a:rPr lang="en-US"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like mobile apps and </a:t>
                      </a:r>
                      <a:r>
                        <a:rPr lang="en-US" sz="9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voice commands</a:t>
                      </a:r>
                      <a:r>
                        <a:rPr lang="en-US"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However, it faces limitations such as </a:t>
                      </a:r>
                      <a:r>
                        <a:rPr lang="en-US" sz="9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limited scalability</a:t>
                      </a:r>
                      <a:r>
                        <a:rPr lang="en-US"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a:t>
                      </a:r>
                      <a:r>
                        <a:rPr lang="en-US" sz="9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basic security measures</a:t>
                      </a:r>
                      <a:r>
                        <a:rPr lang="en-US"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and </a:t>
                      </a:r>
                      <a:r>
                        <a:rPr lang="en-US" sz="9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reliance on stable </a:t>
                      </a:r>
                      <a:r>
                        <a:rPr lang="en-US" sz="900" b="1"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WiFi</a:t>
                      </a:r>
                      <a:r>
                        <a:rPr lang="en-US" sz="9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connectivity</a:t>
                      </a:r>
                      <a:r>
                        <a:rPr lang="en-US" sz="900" b="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a:t>
                      </a:r>
                      <a:endParaRPr lang="en-IN" sz="900" dirty="0">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03521627"/>
                  </a:ext>
                </a:extLst>
              </a:tr>
            </a:tbl>
          </a:graphicData>
        </a:graphic>
      </p:graphicFrame>
      <p:sp>
        <p:nvSpPr>
          <p:cNvPr id="5" name="Title 1">
            <a:extLst>
              <a:ext uri="{FF2B5EF4-FFF2-40B4-BE49-F238E27FC236}">
                <a16:creationId xmlns:a16="http://schemas.microsoft.com/office/drawing/2014/main" id="{EDDB8473-8DED-DB55-9A93-6E8696B8BF3F}"/>
              </a:ext>
            </a:extLst>
          </p:cNvPr>
          <p:cNvSpPr>
            <a:spLocks noGrp="1"/>
          </p:cNvSpPr>
          <p:nvPr>
            <p:ph type="title"/>
          </p:nvPr>
        </p:nvSpPr>
        <p:spPr>
          <a:xfrm>
            <a:off x="0" y="52197"/>
            <a:ext cx="9144000" cy="609719"/>
          </a:xfrm>
        </p:spPr>
        <p:txBody>
          <a:bodyPr>
            <a:normAutofit/>
          </a:bodyPr>
          <a:lstStyle/>
          <a:p>
            <a:pPr algn="ctr"/>
            <a:r>
              <a:rPr lang="en-US" altLang="en-IN" sz="2800" b="1" dirty="0">
                <a:solidFill>
                  <a:schemeClr val="tx1"/>
                </a:solidFill>
                <a:latin typeface="Calibri" panose="020F0502020204030204" pitchFamily="34" charset="0"/>
                <a:ea typeface="Calibri" panose="020F0502020204030204" pitchFamily="34" charset="0"/>
                <a:cs typeface="Calibri" panose="020F0502020204030204" pitchFamily="34" charset="0"/>
              </a:rPr>
              <a:t>LITERATURE REVIEW</a:t>
            </a:r>
          </a:p>
        </p:txBody>
      </p:sp>
    </p:spTree>
    <p:extLst>
      <p:ext uri="{BB962C8B-B14F-4D97-AF65-F5344CB8AC3E}">
        <p14:creationId xmlns:p14="http://schemas.microsoft.com/office/powerpoint/2010/main" val="2552965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a:xfrm>
            <a:off x="828428" y="207833"/>
            <a:ext cx="7487142" cy="1017270"/>
          </a:xfrm>
        </p:spPr>
        <p:txBody>
          <a:bodyPr>
            <a:normAutofit/>
          </a:bodyPr>
          <a:lstStyle/>
          <a:p>
            <a:r>
              <a:rPr lang="en-IN" sz="2800" b="1" dirty="0">
                <a:latin typeface="Calibri" panose="020F0502020204030204" pitchFamily="34" charset="0"/>
                <a:ea typeface="Calibri" panose="020F0502020204030204" pitchFamily="34" charset="0"/>
                <a:cs typeface="Calibri" panose="020F0502020204030204" pitchFamily="34" charset="0"/>
              </a:rPr>
              <a:t>Requirements</a:t>
            </a:r>
          </a:p>
        </p:txBody>
      </p:sp>
      <p:sp>
        <p:nvSpPr>
          <p:cNvPr id="4" name="Rectangle 2">
            <a:extLst>
              <a:ext uri="{FF2B5EF4-FFF2-40B4-BE49-F238E27FC236}">
                <a16:creationId xmlns:a16="http://schemas.microsoft.com/office/drawing/2014/main" id="{143F558E-D076-C988-D822-17EFBDD60169}"/>
              </a:ext>
            </a:extLst>
          </p:cNvPr>
          <p:cNvSpPr>
            <a:spLocks noChangeArrowheads="1"/>
          </p:cNvSpPr>
          <p:nvPr/>
        </p:nvSpPr>
        <p:spPr bwMode="auto">
          <a:xfrm rot="10800000" flipV="1">
            <a:off x="956831" y="1040437"/>
            <a:ext cx="7230337"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Core Components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1. Raspberry Pi 4:</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350" dirty="0">
                <a:latin typeface="Calibri" panose="020F0502020204030204" pitchFamily="34" charset="0"/>
                <a:ea typeface="Calibri" panose="020F0502020204030204" pitchFamily="34" charset="0"/>
                <a:cs typeface="Calibri" panose="020F0502020204030204" pitchFamily="34" charset="0"/>
              </a:rPr>
              <a:t>	</a:t>
            </a:r>
            <a:r>
              <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Main controller running </a:t>
            </a:r>
            <a:r>
              <a:rPr kumimoji="0" lang="en-US" altLang="en-US" sz="135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RealVNC</a:t>
            </a:r>
            <a:r>
              <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Server for remote GUI access via </a:t>
            </a:r>
            <a:r>
              <a:rPr kumimoji="0" lang="en-US" altLang="en-US" sz="135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RealVNC</a:t>
            </a:r>
            <a:r>
              <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Viewer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2. Pi Camera Module: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350" dirty="0">
                <a:latin typeface="Calibri" panose="020F0502020204030204" pitchFamily="34" charset="0"/>
                <a:ea typeface="Calibri" panose="020F0502020204030204" pitchFamily="34" charset="0"/>
                <a:cs typeface="Calibri" panose="020F0502020204030204" pitchFamily="34" charset="0"/>
              </a:rPr>
              <a:t>	</a:t>
            </a:r>
            <a:r>
              <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Captures HD video feed for visitor identification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3. USB Microphone: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350" dirty="0">
                <a:latin typeface="Calibri" panose="020F0502020204030204" pitchFamily="34" charset="0"/>
                <a:ea typeface="Calibri" panose="020F0502020204030204" pitchFamily="34" charset="0"/>
                <a:cs typeface="Calibri" panose="020F0502020204030204" pitchFamily="34" charset="0"/>
              </a:rPr>
              <a:t>	</a:t>
            </a:r>
            <a:r>
              <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Records audio input for two-way communication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4. Arduino Uno: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350" dirty="0">
                <a:latin typeface="Calibri" panose="020F0502020204030204" pitchFamily="34" charset="0"/>
                <a:ea typeface="Calibri" panose="020F0502020204030204" pitchFamily="34" charset="0"/>
                <a:cs typeface="Calibri" panose="020F0502020204030204" pitchFamily="34" charset="0"/>
              </a:rPr>
              <a:t>	</a:t>
            </a:r>
            <a:r>
              <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Manages 5V relay module for door/gate control via GPIO signals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5. Doorbell Switch: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350" dirty="0">
                <a:latin typeface="Calibri" panose="020F0502020204030204" pitchFamily="34" charset="0"/>
                <a:ea typeface="Calibri" panose="020F0502020204030204" pitchFamily="34" charset="0"/>
                <a:cs typeface="Calibri" panose="020F0502020204030204" pitchFamily="34" charset="0"/>
              </a:rPr>
              <a:t>	</a:t>
            </a:r>
            <a:r>
              <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Manual activation input connected to Pi's GPIO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6. 4-Channel Relay Module: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350" dirty="0">
                <a:latin typeface="Calibri" panose="020F0502020204030204" pitchFamily="34" charset="0"/>
                <a:ea typeface="Calibri" panose="020F0502020204030204" pitchFamily="34" charset="0"/>
                <a:cs typeface="Calibri" panose="020F0502020204030204" pitchFamily="34" charset="0"/>
              </a:rPr>
              <a:t>	</a:t>
            </a:r>
            <a:r>
              <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Modified with trimmer resistors (10K-100K</a:t>
            </a:r>
            <a:r>
              <a:rPr kumimoji="0" lang="el-GR"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Ω) </a:t>
            </a:r>
            <a:r>
              <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for 3.3V compatibility with Pi/Arduino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7. ESP8266 </a:t>
            </a:r>
            <a:r>
              <a:rPr kumimoji="0" lang="en-US" altLang="en-US" sz="135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WiFi</a:t>
            </a:r>
            <a:r>
              <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Module: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350" dirty="0">
                <a:latin typeface="Calibri" panose="020F0502020204030204" pitchFamily="34" charset="0"/>
                <a:ea typeface="Calibri" panose="020F0502020204030204" pitchFamily="34" charset="0"/>
                <a:cs typeface="Calibri" panose="020F0502020204030204" pitchFamily="34" charset="0"/>
              </a:rPr>
              <a:t>	</a:t>
            </a:r>
            <a:r>
              <a:rPr kumimoji="0" lang="en-US" altLang="en-US" sz="13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Enables IoT connectivity for Arduino-to-Pi data transmission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FC50-CCA7-4EB0-C345-A34232CB1B39}"/>
              </a:ext>
            </a:extLst>
          </p:cNvPr>
          <p:cNvSpPr>
            <a:spLocks noGrp="1"/>
          </p:cNvSpPr>
          <p:nvPr>
            <p:ph type="title"/>
          </p:nvPr>
        </p:nvSpPr>
        <p:spPr>
          <a:xfrm>
            <a:off x="457200" y="21731"/>
            <a:ext cx="8229600" cy="857250"/>
          </a:xfrm>
        </p:spPr>
        <p:txBody>
          <a:bodyPr/>
          <a:lstStyle/>
          <a:p>
            <a:r>
              <a:rPr lang="en-IN" dirty="0"/>
              <a:t>Architecture Diagram</a:t>
            </a:r>
          </a:p>
        </p:txBody>
      </p:sp>
      <p:pic>
        <p:nvPicPr>
          <p:cNvPr id="3" name="Picture 2">
            <a:extLst>
              <a:ext uri="{FF2B5EF4-FFF2-40B4-BE49-F238E27FC236}">
                <a16:creationId xmlns:a16="http://schemas.microsoft.com/office/drawing/2014/main" id="{76AA7B5C-0BFC-BBB1-E0F8-D0C5EDD5C8EF}"/>
              </a:ext>
            </a:extLst>
          </p:cNvPr>
          <p:cNvPicPr>
            <a:picLocks noChangeAspect="1"/>
          </p:cNvPicPr>
          <p:nvPr/>
        </p:nvPicPr>
        <p:blipFill>
          <a:blip r:embed="rId2"/>
          <a:stretch>
            <a:fillRect/>
          </a:stretch>
        </p:blipFill>
        <p:spPr>
          <a:xfrm>
            <a:off x="1734364" y="973413"/>
            <a:ext cx="5451965" cy="3914420"/>
          </a:xfrm>
          <a:prstGeom prst="rect">
            <a:avLst/>
          </a:prstGeom>
        </p:spPr>
      </p:pic>
    </p:spTree>
    <p:extLst>
      <p:ext uri="{BB962C8B-B14F-4D97-AF65-F5344CB8AC3E}">
        <p14:creationId xmlns:p14="http://schemas.microsoft.com/office/powerpoint/2010/main" val="3260747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71F80-96D9-501C-6992-CBEA19D0AF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D6B954-DFC8-A134-9EB0-67C277F09724}"/>
              </a:ext>
            </a:extLst>
          </p:cNvPr>
          <p:cNvSpPr>
            <a:spLocks noGrp="1"/>
          </p:cNvSpPr>
          <p:nvPr>
            <p:ph type="title"/>
          </p:nvPr>
        </p:nvSpPr>
        <p:spPr/>
        <p:txBody>
          <a:bodyPr/>
          <a:lstStyle/>
          <a:p>
            <a:r>
              <a:rPr lang="en-IN">
                <a:latin typeface="Calibri" panose="020F0502020204030204" pitchFamily="34" charset="0"/>
                <a:ea typeface="Calibri" panose="020F0502020204030204" pitchFamily="34" charset="0"/>
                <a:cs typeface="Calibri" panose="020F0502020204030204" pitchFamily="34" charset="0"/>
              </a:rPr>
              <a:t>SYSTEM CONNECTIONS</a:t>
            </a:r>
            <a:endParaRPr lang="en-IN"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49870031-C2E3-D855-CFD0-69AC10AF50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8091" y="1055893"/>
            <a:ext cx="5973318" cy="3881628"/>
          </a:xfrm>
          <a:prstGeom prst="rect">
            <a:avLst/>
          </a:prstGeom>
        </p:spPr>
      </p:pic>
    </p:spTree>
    <p:extLst>
      <p:ext uri="{BB962C8B-B14F-4D97-AF65-F5344CB8AC3E}">
        <p14:creationId xmlns:p14="http://schemas.microsoft.com/office/powerpoint/2010/main" val="921867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75AFF-EE6A-EAC3-693F-39D3DD83A687}"/>
              </a:ext>
            </a:extLst>
          </p:cNvPr>
          <p:cNvSpPr>
            <a:spLocks noGrp="1"/>
          </p:cNvSpPr>
          <p:nvPr>
            <p:ph type="title"/>
          </p:nvPr>
        </p:nvSpPr>
        <p:spPr/>
        <p:txBody>
          <a:bodyPr/>
          <a:lstStyle/>
          <a:p>
            <a:r>
              <a:rPr lang="en-IN">
                <a:latin typeface="Calibri" panose="020F0502020204030204" pitchFamily="34" charset="0"/>
                <a:ea typeface="Calibri" panose="020F0502020204030204" pitchFamily="34" charset="0"/>
                <a:cs typeface="Calibri" panose="020F0502020204030204" pitchFamily="34" charset="0"/>
              </a:rPr>
              <a:t>SYSTEM CONNECTIONS</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0084AEE-332D-B8DB-A3CD-453DFE36E8A5}"/>
              </a:ext>
            </a:extLst>
          </p:cNvPr>
          <p:cNvSpPr txBox="1"/>
          <p:nvPr/>
        </p:nvSpPr>
        <p:spPr>
          <a:xfrm>
            <a:off x="457200" y="1203959"/>
            <a:ext cx="7818120" cy="3754874"/>
          </a:xfrm>
          <a:prstGeom prst="rect">
            <a:avLst/>
          </a:prstGeom>
          <a:noFill/>
        </p:spPr>
        <p:txBody>
          <a:bodyPr wrap="square">
            <a:spAutoFit/>
          </a:bodyPr>
          <a:lstStyle/>
          <a:p>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1. Power Supply (5V, 2Amp):</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Positive (+)</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Connected to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Vin</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pin of the Arduino and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VCC</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pin of the relay module. This provides the necessary power to both the Arduino and the relays. </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Negative (-)</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Connected to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GND</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pin of the Arduino and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GND</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pin of the relay module. This provides a common ground for the circuit. </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2. </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Arduino UNO to </a:t>
            </a:r>
            <a:r>
              <a:rPr kumimoji="0" lang="en-US" altLang="en-US"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WiFi</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Module:</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VCC (</a:t>
            </a:r>
            <a:r>
              <a:rPr kumimoji="0" lang="en-US" altLang="en-US"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WiFi</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Module)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Connected to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3.3V</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pin of the Arduino. The </a:t>
            </a:r>
            <a:r>
              <a:rPr kumimoji="0" lang="en-US" altLang="en-US" sz="14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WiFi</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module typically operates at 3.3V. </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GND (</a:t>
            </a:r>
            <a:r>
              <a:rPr kumimoji="0" lang="en-US" altLang="en-US"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WiFi</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Module)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Connected to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GND</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pin of the Arduino. </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TX (</a:t>
            </a:r>
            <a:r>
              <a:rPr kumimoji="0" lang="en-US" altLang="en-US"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WiFi</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Module)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Connected to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RX (Pin 0)</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pin of the Arduino. This is for transmitting data from the </a:t>
            </a:r>
            <a:r>
              <a:rPr kumimoji="0" lang="en-US" altLang="en-US" sz="14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WiFi</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module to the Arduino. </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RX (</a:t>
            </a:r>
            <a:r>
              <a:rPr kumimoji="0" lang="en-US" altLang="en-US"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WiFi</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Module)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Connected to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TX (Pin 1)</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pin of the Arduino. This is for receiving data from the Arduino to the </a:t>
            </a:r>
            <a:r>
              <a:rPr kumimoji="0" lang="en-US" altLang="en-US" sz="14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WiFi</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module. </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3.</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Arduino UNO to Relay Module:</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Digital Pins (Arduino):</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Connected to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IN1, IN2, IN3, and IN4</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pins of the relay module. These pins send control signals to the relays. </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6813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CC8AF-D95A-33F1-F395-1C1272065EF4}"/>
              </a:ext>
            </a:extLst>
          </p:cNvPr>
          <p:cNvSpPr>
            <a:spLocks noGrp="1"/>
          </p:cNvSpPr>
          <p:nvPr>
            <p:ph type="title"/>
          </p:nvPr>
        </p:nvSpPr>
        <p:spPr>
          <a:xfrm>
            <a:off x="464024" y="205979"/>
            <a:ext cx="8229600" cy="857250"/>
          </a:xfrm>
        </p:spPr>
        <p:txBody>
          <a:bodyPr/>
          <a:lstStyle/>
          <a:p>
            <a:r>
              <a:rPr lang="en-IN">
                <a:latin typeface="Calibri" panose="020F0502020204030204" pitchFamily="34" charset="0"/>
                <a:ea typeface="Calibri" panose="020F0502020204030204" pitchFamily="34" charset="0"/>
                <a:cs typeface="Calibri" panose="020F0502020204030204" pitchFamily="34" charset="0"/>
              </a:rPr>
              <a:t>SYSTEM CONNECTIONS</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3E85F14F-D881-7E9B-2577-B666D328D28D}"/>
              </a:ext>
            </a:extLst>
          </p:cNvPr>
          <p:cNvSpPr txBox="1"/>
          <p:nvPr/>
        </p:nvSpPr>
        <p:spPr>
          <a:xfrm>
            <a:off x="464024" y="1676295"/>
            <a:ext cx="8229600" cy="1815882"/>
          </a:xfrm>
          <a:prstGeom prst="rect">
            <a:avLst/>
          </a:prstGeom>
          <a:noFill/>
        </p:spPr>
        <p:txBody>
          <a:bodyPr wrap="square">
            <a:spAutoFit/>
          </a:bodyPr>
          <a:lstStyle/>
          <a:p>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4. Relay Module to Appliances (Bulbs and Sockets):</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COM (Common) Terminals of Relays: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Connected to the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Live (L)</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wire from the 220V AC power source. </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NO (Normally Open) Terminals of Relays:</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Connected to one terminal of each bulb and one terminal of each socket. </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Neutral (N) Wire: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Connected directly to the other terminal of each bulb and socket. </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5. 220V AC Power Source:</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Live (L) Wire: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Connected to the common (COM) terminals of the relays. </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Neutral (N) Wire:</a:t>
            </a: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Connected directly to the bulbs and sockets.</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79234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0A5E3-1980-2CDC-8003-26FFBEE09C47}"/>
              </a:ext>
            </a:extLst>
          </p:cNvPr>
          <p:cNvSpPr>
            <a:spLocks noGrp="1"/>
          </p:cNvSpPr>
          <p:nvPr>
            <p:ph type="title"/>
          </p:nvPr>
        </p:nvSpPr>
        <p:spPr/>
        <p:txBody>
          <a:bodyPr/>
          <a:lstStyle/>
          <a:p>
            <a:r>
              <a:rPr lang="en-IN">
                <a:latin typeface="Calibri" panose="020F0502020204030204" pitchFamily="34" charset="0"/>
                <a:ea typeface="Calibri" panose="020F0502020204030204" pitchFamily="34" charset="0"/>
                <a:cs typeface="Calibri" panose="020F0502020204030204" pitchFamily="34" charset="0"/>
              </a:rPr>
              <a:t>APP INTERFACE</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5D680483-696D-07A9-178F-86B1C2D31CAA}"/>
              </a:ext>
            </a:extLst>
          </p:cNvPr>
          <p:cNvSpPr txBox="1"/>
          <p:nvPr/>
        </p:nvSpPr>
        <p:spPr>
          <a:xfrm>
            <a:off x="4114800" y="1715049"/>
            <a:ext cx="4572000" cy="2031325"/>
          </a:xfrm>
          <a:prstGeom prst="rect">
            <a:avLst/>
          </a:prstGeom>
          <a:noFill/>
        </p:spPr>
        <p:txBody>
          <a:bodyPr wrap="square">
            <a:spAutoFit/>
          </a:bodyPr>
          <a:lstStyle/>
          <a:p>
            <a:pPr algn="just"/>
            <a:r>
              <a:rPr lang="en-IN" sz="1400" dirty="0">
                <a:latin typeface="Calibri" panose="020F0502020204030204" pitchFamily="34" charset="0"/>
                <a:ea typeface="Calibri" panose="020F0502020204030204" pitchFamily="34" charset="0"/>
                <a:cs typeface="Calibri" panose="020F0502020204030204" pitchFamily="34" charset="0"/>
              </a:rPr>
              <a:t>The app interface is simple and user-friendly, displaying a table with four rows, each representing a different appliance or device that can be controlled remotely. The columns indicate the status of each device (ON) setup suggests that the app allows users to control lights and sockets remotely, likely through a connected IoT system. The "ON" status indicates that the devices are currently active. The app is part of a smart home or automation system, enabling users to manage their appliances from a mobile device. </a:t>
            </a:r>
          </a:p>
        </p:txBody>
      </p:sp>
      <p:pic>
        <p:nvPicPr>
          <p:cNvPr id="6" name="Picture 5">
            <a:extLst>
              <a:ext uri="{FF2B5EF4-FFF2-40B4-BE49-F238E27FC236}">
                <a16:creationId xmlns:a16="http://schemas.microsoft.com/office/drawing/2014/main" id="{7A7DBB7A-1DD5-EDCB-AA69-68F76DC6F0FB}"/>
              </a:ext>
            </a:extLst>
          </p:cNvPr>
          <p:cNvPicPr>
            <a:picLocks noChangeAspect="1"/>
          </p:cNvPicPr>
          <p:nvPr/>
        </p:nvPicPr>
        <p:blipFill>
          <a:blip r:embed="rId2">
            <a:extLst>
              <a:ext uri="{28A0092B-C50C-407E-A947-70E740481C1C}">
                <a14:useLocalDpi xmlns:a14="http://schemas.microsoft.com/office/drawing/2010/main" val="0"/>
              </a:ext>
            </a:extLst>
          </a:blip>
          <a:srcRect t="4514" b="46820"/>
          <a:stretch/>
        </p:blipFill>
        <p:spPr>
          <a:xfrm>
            <a:off x="1351657" y="1642618"/>
            <a:ext cx="1817882" cy="1975793"/>
          </a:xfrm>
          <a:prstGeom prst="rect">
            <a:avLst/>
          </a:prstGeom>
        </p:spPr>
      </p:pic>
    </p:spTree>
    <p:extLst>
      <p:ext uri="{BB962C8B-B14F-4D97-AF65-F5344CB8AC3E}">
        <p14:creationId xmlns:p14="http://schemas.microsoft.com/office/powerpoint/2010/main" val="2299740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4B18D588-C334-AE8A-EC01-AB8C45EB7958}"/>
            </a:ext>
          </a:extLst>
        </p:cNvPr>
        <p:cNvGrpSpPr/>
        <p:nvPr/>
      </p:nvGrpSpPr>
      <p:grpSpPr>
        <a:xfrm>
          <a:off x="0" y="0"/>
          <a:ext cx="0" cy="0"/>
          <a:chOff x="0" y="0"/>
          <a:chExt cx="0" cy="0"/>
        </a:xfrm>
      </p:grpSpPr>
      <p:sp>
        <p:nvSpPr>
          <p:cNvPr id="4" name="Text Box 3">
            <a:extLst>
              <a:ext uri="{FF2B5EF4-FFF2-40B4-BE49-F238E27FC236}">
                <a16:creationId xmlns:a16="http://schemas.microsoft.com/office/drawing/2014/main" id="{A6233213-12F8-6598-BAD1-2A1AAD97DED0}"/>
              </a:ext>
            </a:extLst>
          </p:cNvPr>
          <p:cNvSpPr txBox="1"/>
          <p:nvPr/>
        </p:nvSpPr>
        <p:spPr>
          <a:xfrm>
            <a:off x="3129915" y="281305"/>
            <a:ext cx="3072130" cy="460375"/>
          </a:xfrm>
          <a:prstGeom prst="rect">
            <a:avLst/>
          </a:prstGeom>
          <a:noFill/>
        </p:spPr>
        <p:txBody>
          <a:bodyPr wrap="square" rtlCol="0" anchor="t">
            <a:spAutoFit/>
          </a:bodyPr>
          <a:lstStyle/>
          <a:p>
            <a:pPr marL="0" lvl="0" indent="0" algn="ctr" rtl="0">
              <a:spcBef>
                <a:spcPts val="0"/>
              </a:spcBef>
              <a:spcAft>
                <a:spcPts val="0"/>
              </a:spcAft>
              <a:buNone/>
            </a:pPr>
            <a:r>
              <a:rPr lang="en-US" sz="2400" b="1">
                <a:latin typeface="Calibri" panose="020F0502020204030204" pitchFamily="34" charset="0"/>
                <a:ea typeface="Calibri" panose="020F0502020204030204" pitchFamily="34" charset="0"/>
                <a:cs typeface="Calibri" panose="020F0502020204030204" pitchFamily="34" charset="0"/>
                <a:sym typeface="+mn-ea"/>
              </a:rPr>
              <a:t>Architecture Diagram</a:t>
            </a:r>
            <a:endParaRPr lang="en-US" sz="2400" b="1" dirty="0">
              <a:latin typeface="Calibri" panose="020F0502020204030204" pitchFamily="34" charset="0"/>
              <a:ea typeface="Calibri" panose="020F0502020204030204" pitchFamily="34" charset="0"/>
              <a:cs typeface="Calibri" panose="020F0502020204030204" pitchFamily="34" charset="0"/>
              <a:sym typeface="+mn-ea"/>
            </a:endParaRPr>
          </a:p>
        </p:txBody>
      </p:sp>
      <p:pic>
        <p:nvPicPr>
          <p:cNvPr id="5" name="Picture 4">
            <a:extLst>
              <a:ext uri="{FF2B5EF4-FFF2-40B4-BE49-F238E27FC236}">
                <a16:creationId xmlns:a16="http://schemas.microsoft.com/office/drawing/2014/main" id="{41D002FD-1C4D-CF3B-7B48-6B9A501258E0}"/>
              </a:ext>
            </a:extLst>
          </p:cNvPr>
          <p:cNvPicPr>
            <a:picLocks noChangeAspect="1"/>
          </p:cNvPicPr>
          <p:nvPr/>
        </p:nvPicPr>
        <p:blipFill>
          <a:blip r:embed="rId3"/>
          <a:stretch>
            <a:fillRect/>
          </a:stretch>
        </p:blipFill>
        <p:spPr>
          <a:xfrm>
            <a:off x="1652265" y="842554"/>
            <a:ext cx="5727421" cy="3753157"/>
          </a:xfrm>
          <a:prstGeom prst="rect">
            <a:avLst/>
          </a:prstGeom>
        </p:spPr>
      </p:pic>
    </p:spTree>
    <p:extLst>
      <p:ext uri="{BB962C8B-B14F-4D97-AF65-F5344CB8AC3E}">
        <p14:creationId xmlns:p14="http://schemas.microsoft.com/office/powerpoint/2010/main" val="738264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9188C-FDC2-890B-8A91-8E6A98DCBAED}"/>
              </a:ext>
            </a:extLst>
          </p:cNvPr>
          <p:cNvSpPr>
            <a:spLocks noGrp="1"/>
          </p:cNvSpPr>
          <p:nvPr>
            <p:ph type="title"/>
          </p:nvPr>
        </p:nvSpPr>
        <p:spPr/>
        <p:txBody>
          <a:bodyPr/>
          <a:lstStyle/>
          <a:p>
            <a:r>
              <a:rPr lang="en-IN">
                <a:latin typeface="Calibri" panose="020F0502020204030204" pitchFamily="34" charset="0"/>
                <a:ea typeface="Calibri" panose="020F0502020204030204" pitchFamily="34" charset="0"/>
                <a:cs typeface="Calibri" panose="020F0502020204030204" pitchFamily="34" charset="0"/>
              </a:rPr>
              <a:t>UML REPRESENTATION</a:t>
            </a:r>
            <a:endParaRPr lang="en-IN"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991AF196-28B1-EA0C-E8FF-6838EC6ABB26}"/>
              </a:ext>
            </a:extLst>
          </p:cNvPr>
          <p:cNvPicPr>
            <a:picLocks noChangeAspect="1"/>
          </p:cNvPicPr>
          <p:nvPr/>
        </p:nvPicPr>
        <p:blipFill rotWithShape="1">
          <a:blip r:embed="rId2"/>
          <a:srcRect l="992"/>
          <a:stretch>
            <a:fillRect/>
          </a:stretch>
        </p:blipFill>
        <p:spPr bwMode="auto">
          <a:xfrm>
            <a:off x="2299647" y="1294917"/>
            <a:ext cx="5182285" cy="3642604"/>
          </a:xfrm>
          <a:prstGeom prst="rect">
            <a:avLst/>
          </a:prstGeom>
          <a:ln>
            <a:noFill/>
          </a:ln>
        </p:spPr>
      </p:pic>
    </p:spTree>
    <p:extLst>
      <p:ext uri="{BB962C8B-B14F-4D97-AF65-F5344CB8AC3E}">
        <p14:creationId xmlns:p14="http://schemas.microsoft.com/office/powerpoint/2010/main" val="249565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CC793-12C3-7B1B-C86B-71886B09EFE8}"/>
              </a:ext>
            </a:extLst>
          </p:cNvPr>
          <p:cNvSpPr>
            <a:spLocks noGrp="1"/>
          </p:cNvSpPr>
          <p:nvPr>
            <p:ph type="title"/>
          </p:nvPr>
        </p:nvSpPr>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Audio Communication with Raspberry pi </a:t>
            </a:r>
          </a:p>
        </p:txBody>
      </p:sp>
      <p:sp>
        <p:nvSpPr>
          <p:cNvPr id="3" name="Content Placeholder 2">
            <a:extLst>
              <a:ext uri="{FF2B5EF4-FFF2-40B4-BE49-F238E27FC236}">
                <a16:creationId xmlns:a16="http://schemas.microsoft.com/office/drawing/2014/main" id="{29600372-A0FE-962E-F266-17EB99169B07}"/>
              </a:ext>
            </a:extLst>
          </p:cNvPr>
          <p:cNvSpPr>
            <a:spLocks noGrp="1"/>
          </p:cNvSpPr>
          <p:nvPr>
            <p:ph idx="1"/>
          </p:nvPr>
        </p:nvSpPr>
        <p:spPr>
          <a:xfrm>
            <a:off x="457200" y="1200150"/>
            <a:ext cx="8686800" cy="3943350"/>
          </a:xfrm>
        </p:spPr>
        <p:txBody>
          <a:bodyPr/>
          <a:lstStyle/>
          <a:p>
            <a:r>
              <a:rPr lang="en-US" sz="1400" b="0" i="0" dirty="0">
                <a:effectLst/>
                <a:latin typeface="Calibri" panose="020F0502020204030204" pitchFamily="34" charset="0"/>
                <a:ea typeface="Calibri" panose="020F0502020204030204" pitchFamily="34" charset="0"/>
                <a:cs typeface="Calibri" panose="020F0502020204030204" pitchFamily="34" charset="0"/>
              </a:rPr>
              <a:t>Button Press Detection:</a:t>
            </a:r>
          </a:p>
          <a:p>
            <a:pPr marL="0" indent="0" algn="l">
              <a:buNone/>
            </a:pPr>
            <a:r>
              <a:rPr lang="en-US" sz="1400" dirty="0">
                <a:latin typeface="Calibri" panose="020F0502020204030204" pitchFamily="34" charset="0"/>
                <a:ea typeface="Calibri" panose="020F0502020204030204" pitchFamily="34" charset="0"/>
                <a:cs typeface="Calibri" panose="020F0502020204030204" pitchFamily="34" charset="0"/>
              </a:rPr>
              <a:t>	</a:t>
            </a:r>
            <a:r>
              <a:rPr lang="en-US" sz="1400" b="0" i="0" dirty="0">
                <a:effectLst/>
                <a:latin typeface="Calibri" panose="020F0502020204030204" pitchFamily="34" charset="0"/>
                <a:ea typeface="Calibri" panose="020F0502020204030204" pitchFamily="34" charset="0"/>
                <a:cs typeface="Calibri" panose="020F0502020204030204" pitchFamily="34" charset="0"/>
              </a:rPr>
              <a:t> The Raspberry Pi 4 is configured to monitor four distinct button presses, utilizing the GPIO pins. Each </a:t>
            </a:r>
            <a:r>
              <a:rPr lang="en-US" sz="1400" dirty="0">
                <a:latin typeface="Calibri" panose="020F0502020204030204" pitchFamily="34" charset="0"/>
                <a:ea typeface="Calibri" panose="020F0502020204030204" pitchFamily="34" charset="0"/>
                <a:cs typeface="Calibri" panose="020F0502020204030204" pitchFamily="34" charset="0"/>
              </a:rPr>
              <a:t>  </a:t>
            </a:r>
            <a:r>
              <a:rPr lang="en-US" sz="1400" b="0" i="0" dirty="0">
                <a:effectLst/>
                <a:latin typeface="Calibri" panose="020F0502020204030204" pitchFamily="34" charset="0"/>
                <a:ea typeface="Calibri" panose="020F0502020204030204" pitchFamily="34" charset="0"/>
                <a:cs typeface="Calibri" panose="020F0502020204030204" pitchFamily="34" charset="0"/>
              </a:rPr>
              <a:t>button press triggers a specific function within a Python script, allowing for seamless interaction and control over the system's operations.</a:t>
            </a:r>
          </a:p>
          <a:p>
            <a:r>
              <a:rPr lang="en-US" sz="1400" b="0" i="0" dirty="0">
                <a:effectLst/>
                <a:latin typeface="Calibri" panose="020F0502020204030204" pitchFamily="34" charset="0"/>
                <a:ea typeface="Calibri" panose="020F0502020204030204" pitchFamily="34" charset="0"/>
                <a:cs typeface="Calibri" panose="020F0502020204030204" pitchFamily="34" charset="0"/>
              </a:rPr>
              <a:t>Communication System Activation:</a:t>
            </a:r>
          </a:p>
          <a:p>
            <a:pPr marL="0" indent="0">
              <a:buNone/>
            </a:pPr>
            <a:r>
              <a:rPr lang="en-US" sz="1400" dirty="0">
                <a:latin typeface="Calibri" panose="020F0502020204030204" pitchFamily="34" charset="0"/>
                <a:ea typeface="Calibri" panose="020F0502020204030204" pitchFamily="34" charset="0"/>
                <a:cs typeface="Calibri" panose="020F0502020204030204" pitchFamily="34" charset="0"/>
              </a:rPr>
              <a:t>	</a:t>
            </a:r>
            <a:r>
              <a:rPr lang="en-US" sz="1400" b="0" i="0" dirty="0">
                <a:effectLst/>
                <a:latin typeface="Calibri" panose="020F0502020204030204" pitchFamily="34" charset="0"/>
                <a:ea typeface="Calibri" panose="020F0502020204030204" pitchFamily="34" charset="0"/>
                <a:cs typeface="Calibri" panose="020F0502020204030204" pitchFamily="34" charset="0"/>
              </a:rPr>
              <a:t> Upon detecting four consecutive button presses, the script initiates a two-way communication system. This is facilitated through a web browser interface, enabling users to engage in real-time video and audio conversations.</a:t>
            </a:r>
          </a:p>
          <a:p>
            <a:r>
              <a:rPr lang="en-US" sz="1400" b="0" i="0" dirty="0">
                <a:effectLst/>
                <a:latin typeface="Calibri" panose="020F0502020204030204" pitchFamily="34" charset="0"/>
                <a:ea typeface="Calibri" panose="020F0502020204030204" pitchFamily="34" charset="0"/>
                <a:cs typeface="Calibri" panose="020F0502020204030204" pitchFamily="34" charset="0"/>
              </a:rPr>
              <a:t>Notification System Integration: </a:t>
            </a:r>
          </a:p>
          <a:p>
            <a:pPr marL="0" indent="0">
              <a:buNone/>
            </a:pPr>
            <a:r>
              <a:rPr lang="en-US" sz="1400" dirty="0">
                <a:latin typeface="Calibri" panose="020F0502020204030204" pitchFamily="34" charset="0"/>
                <a:ea typeface="Calibri" panose="020F0502020204030204" pitchFamily="34" charset="0"/>
                <a:cs typeface="Calibri" panose="020F0502020204030204" pitchFamily="34" charset="0"/>
              </a:rPr>
              <a:t>	</a:t>
            </a:r>
            <a:r>
              <a:rPr lang="en-US" sz="1400" b="0" i="0" dirty="0">
                <a:effectLst/>
                <a:latin typeface="Calibri" panose="020F0502020204030204" pitchFamily="34" charset="0"/>
                <a:ea typeface="Calibri" panose="020F0502020204030204" pitchFamily="34" charset="0"/>
                <a:cs typeface="Calibri" panose="020F0502020204030204" pitchFamily="34" charset="0"/>
              </a:rPr>
              <a:t>Concurrently, the system is designed to send notifications via email upon the activation of the communication link. This ensures that all relevant parties are informed and can join the conversation promptly.</a:t>
            </a:r>
          </a:p>
          <a:p>
            <a:r>
              <a:rPr lang="en-US" sz="1400" b="0" i="0" dirty="0">
                <a:effectLst/>
                <a:latin typeface="Calibri" panose="020F0502020204030204" pitchFamily="34" charset="0"/>
                <a:ea typeface="Calibri" panose="020F0502020204030204" pitchFamily="34" charset="0"/>
                <a:cs typeface="Calibri" panose="020F0502020204030204" pitchFamily="34" charset="0"/>
              </a:rPr>
              <a:t>Video Conferencing Launch: </a:t>
            </a:r>
          </a:p>
          <a:p>
            <a:pPr marL="0" indent="0">
              <a:buNone/>
            </a:pPr>
            <a:r>
              <a:rPr lang="en-US" sz="1400" b="0" i="0" dirty="0">
                <a:effectLst/>
                <a:latin typeface="Calibri" panose="020F0502020204030204" pitchFamily="34" charset="0"/>
                <a:ea typeface="Calibri" panose="020F0502020204030204" pitchFamily="34" charset="0"/>
                <a:cs typeface="Calibri" panose="020F0502020204030204" pitchFamily="34" charset="0"/>
              </a:rPr>
              <a:t>	Once participants click the provided link or a designated button within an application, the system automatically launches a video conferencing session. This allows for effective visual and auditory communication, enhancing user interaction during meetings or discussions.</a:t>
            </a:r>
          </a:p>
          <a:p>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49649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Title 1"/>
          <p:cNvSpPr>
            <a:spLocks noGrp="1"/>
          </p:cNvSpPr>
          <p:nvPr>
            <p:ph type="title"/>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RESULTS</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1048615" name="Content Placeholder 2"/>
          <p:cNvSpPr>
            <a:spLocks noGrp="1"/>
          </p:cNvSpPr>
          <p:nvPr>
            <p:ph idx="1"/>
          </p:nvPr>
        </p:nvSpPr>
        <p:spPr>
          <a:xfrm>
            <a:off x="728134" y="1749028"/>
            <a:ext cx="8229600" cy="3394472"/>
          </a:xfrm>
        </p:spPr>
        <p:txBody>
          <a:bodyPr/>
          <a:lstStyle/>
          <a:p>
            <a:pPr marL="0" indent="0">
              <a:buNone/>
            </a:pPr>
            <a:r>
              <a:rPr lang="en-US" sz="18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We</a:t>
            </a:r>
            <a:r>
              <a:rPr lang="en-US" sz="1800" spc="95"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 </a:t>
            </a:r>
            <a:r>
              <a:rPr lang="en-US" sz="180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successfully developed an interactive assistive system that combines video streaming, audio recording, and text-to-speech functionalities on a Raspberry Pi, enhancing accessibility for visually impaired users. This integrated solution provides real-time interaction and feedback within a local network environment, significantly improving user engagement and navigation.</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6" name="Content Placeholder 3"/>
          <p:cNvPicPr>
            <a:picLocks noGrp="1" noChangeAspect="1"/>
          </p:cNvPicPr>
          <p:nvPr>
            <p:ph idx="1"/>
          </p:nvPr>
        </p:nvPicPr>
        <p:blipFill>
          <a:blip r:embed="rId2" cstate="print"/>
          <a:srcRect/>
          <a:stretch>
            <a:fillRect/>
          </a:stretch>
        </p:blipFill>
        <p:spPr bwMode="auto">
          <a:xfrm>
            <a:off x="1893026" y="609601"/>
            <a:ext cx="5371010" cy="3206044"/>
          </a:xfrm>
          <a:prstGeom prst="rect">
            <a:avLst/>
          </a:prstGeom>
          <a:noFill/>
          <a:ln>
            <a:noFill/>
          </a:ln>
        </p:spPr>
      </p:pic>
      <p:sp>
        <p:nvSpPr>
          <p:cNvPr id="1048616" name="TextBox 5"/>
          <p:cNvSpPr txBox="1"/>
          <p:nvPr/>
        </p:nvSpPr>
        <p:spPr>
          <a:xfrm>
            <a:off x="2541123" y="4037355"/>
            <a:ext cx="4572000" cy="369332"/>
          </a:xfrm>
          <a:prstGeom prst="rect">
            <a:avLst/>
          </a:prstGeom>
          <a:noFill/>
        </p:spPr>
        <p:txBody>
          <a:bodyPr wrap="square">
            <a:spAutoFit/>
          </a:bodyPr>
          <a:lstStyle/>
          <a:p>
            <a:r>
              <a:rPr lang="en-US" sz="1800" spc="-5" dirty="0">
                <a:effectLst/>
                <a:latin typeface="Calibri" panose="020F0502020204030204" pitchFamily="34" charset="0"/>
                <a:ea typeface="Calibri" panose="020F0502020204030204" pitchFamily="34" charset="0"/>
                <a:cs typeface="Calibri" panose="020F0502020204030204" pitchFamily="34" charset="0"/>
              </a:rPr>
              <a:t> </a:t>
            </a:r>
            <a:r>
              <a:rPr lang="en-US" sz="1800" dirty="0">
                <a:effectLst/>
                <a:latin typeface="Calibri" panose="020F0502020204030204" pitchFamily="34" charset="0"/>
                <a:ea typeface="Calibri" panose="020F0502020204030204" pitchFamily="34" charset="0"/>
                <a:cs typeface="Calibri" panose="020F0502020204030204" pitchFamily="34" charset="0"/>
              </a:rPr>
              <a:t>Video</a:t>
            </a:r>
            <a:r>
              <a:rPr lang="en-US" sz="1800" spc="-15" dirty="0">
                <a:effectLst/>
                <a:latin typeface="Calibri" panose="020F0502020204030204" pitchFamily="34" charset="0"/>
                <a:ea typeface="Calibri" panose="020F0502020204030204" pitchFamily="34" charset="0"/>
                <a:cs typeface="Calibri" panose="020F0502020204030204" pitchFamily="34" charset="0"/>
              </a:rPr>
              <a:t> </a:t>
            </a:r>
            <a:r>
              <a:rPr lang="en-US" sz="1800" dirty="0">
                <a:effectLst/>
                <a:latin typeface="Calibri" panose="020F0502020204030204" pitchFamily="34" charset="0"/>
                <a:ea typeface="Calibri" panose="020F0502020204030204" pitchFamily="34" charset="0"/>
                <a:cs typeface="Calibri" panose="020F0502020204030204" pitchFamily="34" charset="0"/>
              </a:rPr>
              <a:t>monitoring</a:t>
            </a:r>
            <a:r>
              <a:rPr lang="en-US" sz="1800" spc="-5" dirty="0">
                <a:effectLst/>
                <a:latin typeface="Calibri" panose="020F0502020204030204" pitchFamily="34" charset="0"/>
                <a:ea typeface="Calibri" panose="020F0502020204030204" pitchFamily="34" charset="0"/>
                <a:cs typeface="Calibri" panose="020F0502020204030204" pitchFamily="34" charset="0"/>
              </a:rPr>
              <a:t> with web</a:t>
            </a:r>
            <a:r>
              <a:rPr lang="en-US" sz="1800" dirty="0">
                <a:effectLst/>
                <a:latin typeface="Calibri" panose="020F0502020204030204" pitchFamily="34" charset="0"/>
                <a:ea typeface="Calibri" panose="020F0502020204030204" pitchFamily="34" charset="0"/>
                <a:cs typeface="Calibri" panose="020F0502020204030204" pitchFamily="34" charset="0"/>
              </a:rPr>
              <a:t>cam</a:t>
            </a:r>
            <a:r>
              <a:rPr lang="en-US" sz="1800" spc="-5" dirty="0">
                <a:effectLst/>
                <a:latin typeface="Calibri" panose="020F0502020204030204" pitchFamily="34" charset="0"/>
                <a:ea typeface="Calibri" panose="020F0502020204030204" pitchFamily="34" charset="0"/>
                <a:cs typeface="Calibri" panose="020F0502020204030204" pitchFamily="34" charset="0"/>
              </a:rPr>
              <a:t> </a:t>
            </a:r>
            <a:r>
              <a:rPr lang="en-US" sz="1800" dirty="0">
                <a:effectLst/>
                <a:latin typeface="Calibri" panose="020F0502020204030204" pitchFamily="34" charset="0"/>
                <a:ea typeface="Calibri" panose="020F0502020204030204" pitchFamily="34" charset="0"/>
                <a:cs typeface="Calibri" panose="020F0502020204030204" pitchFamily="34" charset="0"/>
              </a:rPr>
              <a:t>in</a:t>
            </a:r>
            <a:r>
              <a:rPr lang="en-US" sz="1800" spc="-5" dirty="0">
                <a:effectLst/>
                <a:latin typeface="Calibri" panose="020F0502020204030204" pitchFamily="34" charset="0"/>
                <a:ea typeface="Calibri" panose="020F0502020204030204" pitchFamily="34" charset="0"/>
                <a:cs typeface="Calibri" panose="020F0502020204030204" pitchFamily="34" charset="0"/>
              </a:rPr>
              <a:t> </a:t>
            </a:r>
            <a:r>
              <a:rPr lang="en-US" sz="1800" dirty="0">
                <a:effectLst/>
                <a:latin typeface="Calibri" panose="020F0502020204030204" pitchFamily="34" charset="0"/>
                <a:ea typeface="Calibri" panose="020F0502020204030204" pitchFamily="34" charset="0"/>
                <a:cs typeface="Calibri" panose="020F0502020204030204" pitchFamily="34" charset="0"/>
              </a:rPr>
              <a:t>localhost</a:t>
            </a:r>
            <a:endParaRPr lang="en-IN"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7" name="Content Placeholder 3"/>
          <p:cNvPicPr>
            <a:picLocks noGrp="1" noChangeAspect="1"/>
          </p:cNvPicPr>
          <p:nvPr>
            <p:ph idx="1"/>
          </p:nvPr>
        </p:nvPicPr>
        <p:blipFill>
          <a:blip r:embed="rId2" cstate="print"/>
          <a:srcRect/>
          <a:stretch>
            <a:fillRect/>
          </a:stretch>
        </p:blipFill>
        <p:spPr bwMode="auto">
          <a:xfrm rot="16200000">
            <a:off x="3022111" y="48667"/>
            <a:ext cx="3330225" cy="4127067"/>
          </a:xfrm>
          <a:prstGeom prst="rect">
            <a:avLst/>
          </a:prstGeom>
          <a:noFill/>
          <a:ln>
            <a:noFill/>
          </a:ln>
        </p:spPr>
      </p:pic>
      <p:sp>
        <p:nvSpPr>
          <p:cNvPr id="1048617" name="TextBox 5"/>
          <p:cNvSpPr txBox="1"/>
          <p:nvPr/>
        </p:nvSpPr>
        <p:spPr>
          <a:xfrm>
            <a:off x="2286000" y="3969224"/>
            <a:ext cx="4572000" cy="646331"/>
          </a:xfrm>
          <a:prstGeom prst="rect">
            <a:avLst/>
          </a:prstGeom>
          <a:noFill/>
        </p:spPr>
        <p:txBody>
          <a:bodyPr wrap="square">
            <a:spAutoFit/>
          </a:bodyPr>
          <a:lstStyle/>
          <a:p>
            <a:pPr marL="849630" marR="584835" algn="ctr">
              <a:spcBef>
                <a:spcPts val="870"/>
              </a:spcBef>
            </a:pPr>
            <a:r>
              <a:rPr lang="en-US" sz="1800" dirty="0">
                <a:effectLst/>
                <a:latin typeface="Calibri" panose="020F0502020204030204" pitchFamily="34" charset="0"/>
                <a:ea typeface="Calibri" panose="020F0502020204030204" pitchFamily="34" charset="0"/>
                <a:cs typeface="Calibri" panose="020F0502020204030204" pitchFamily="34" charset="0"/>
              </a:rPr>
              <a:t>Raspberry pi 4 setup for the Video &amp; Audio communication</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8" name="TextBox 7"/>
          <p:cNvSpPr txBox="1"/>
          <p:nvPr/>
        </p:nvSpPr>
        <p:spPr>
          <a:xfrm>
            <a:off x="2516717" y="3613624"/>
            <a:ext cx="4572000" cy="646331"/>
          </a:xfrm>
          <a:prstGeom prst="rect">
            <a:avLst/>
          </a:prstGeom>
          <a:noFill/>
        </p:spPr>
        <p:txBody>
          <a:bodyPr wrap="square">
            <a:spAutoFit/>
          </a:bodyPr>
          <a:lstStyle/>
          <a:p>
            <a:pPr algn="ctr"/>
            <a:r>
              <a:rPr lang="en-IN">
                <a:latin typeface="Calibri" panose="020F0502020204030204" pitchFamily="34" charset="0"/>
                <a:ea typeface="Calibri" panose="020F0502020204030204" pitchFamily="34" charset="0"/>
                <a:cs typeface="Calibri" panose="020F0502020204030204" pitchFamily="34" charset="0"/>
              </a:rPr>
              <a:t>App interface for Video monitoring and Audio communication</a:t>
            </a:r>
            <a:endParaRPr lang="en-IN" dirty="0">
              <a:latin typeface="Calibri" panose="020F0502020204030204" pitchFamily="34" charset="0"/>
              <a:ea typeface="Calibri" panose="020F0502020204030204" pitchFamily="34" charset="0"/>
              <a:cs typeface="Calibri" panose="020F0502020204030204" pitchFamily="34" charset="0"/>
            </a:endParaRPr>
          </a:p>
        </p:txBody>
      </p:sp>
      <p:pic>
        <p:nvPicPr>
          <p:cNvPr id="5" name="Content Placeholder 4">
            <a:extLst>
              <a:ext uri="{FF2B5EF4-FFF2-40B4-BE49-F238E27FC236}">
                <a16:creationId xmlns:a16="http://schemas.microsoft.com/office/drawing/2014/main" id="{A91FFDD2-64E8-FDE0-D42F-47F45551A536}"/>
              </a:ext>
            </a:extLst>
          </p:cNvPr>
          <p:cNvPicPr>
            <a:picLocks noGrp="1" noChangeAspect="1"/>
          </p:cNvPicPr>
          <p:nvPr>
            <p:ph idx="1"/>
          </p:nvPr>
        </p:nvPicPr>
        <p:blipFill>
          <a:blip r:embed="rId2"/>
          <a:stretch>
            <a:fillRect/>
          </a:stretch>
        </p:blipFill>
        <p:spPr>
          <a:xfrm>
            <a:off x="2886891" y="706038"/>
            <a:ext cx="3568448" cy="2418615"/>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DCB1D-8B0B-1EE7-887E-8157A148E0C2}"/>
              </a:ext>
            </a:extLst>
          </p:cNvPr>
          <p:cNvSpPr>
            <a:spLocks noGrp="1"/>
          </p:cNvSpPr>
          <p:nvPr>
            <p:ph type="title"/>
          </p:nvPr>
        </p:nvSpPr>
        <p:spPr>
          <a:xfrm>
            <a:off x="483326" y="205979"/>
            <a:ext cx="8229600" cy="857250"/>
          </a:xfrm>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Components</a:t>
            </a:r>
          </a:p>
        </p:txBody>
      </p:sp>
      <p:graphicFrame>
        <p:nvGraphicFramePr>
          <p:cNvPr id="4" name="Table 3">
            <a:extLst>
              <a:ext uri="{FF2B5EF4-FFF2-40B4-BE49-F238E27FC236}">
                <a16:creationId xmlns:a16="http://schemas.microsoft.com/office/drawing/2014/main" id="{743D4822-ABCB-7BC0-3CEF-076EC6C8506F}"/>
              </a:ext>
            </a:extLst>
          </p:cNvPr>
          <p:cNvGraphicFramePr>
            <a:graphicFrameLocks noGrp="1"/>
          </p:cNvGraphicFramePr>
          <p:nvPr>
            <p:extLst>
              <p:ext uri="{D42A27DB-BD31-4B8C-83A1-F6EECF244321}">
                <p14:modId xmlns:p14="http://schemas.microsoft.com/office/powerpoint/2010/main" val="1619836917"/>
              </p:ext>
            </p:extLst>
          </p:nvPr>
        </p:nvGraphicFramePr>
        <p:xfrm>
          <a:off x="2201091" y="1456509"/>
          <a:ext cx="5009606" cy="2462348"/>
        </p:xfrm>
        <a:graphic>
          <a:graphicData uri="http://schemas.openxmlformats.org/drawingml/2006/table">
            <a:tbl>
              <a:tblPr firstRow="1" bandRow="1">
                <a:tableStyleId>{F5AB1C69-6EDB-4FF4-983F-18BD219EF322}</a:tableStyleId>
              </a:tblPr>
              <a:tblGrid>
                <a:gridCol w="2642507">
                  <a:extLst>
                    <a:ext uri="{9D8B030D-6E8A-4147-A177-3AD203B41FA5}">
                      <a16:colId xmlns:a16="http://schemas.microsoft.com/office/drawing/2014/main" val="4233426972"/>
                    </a:ext>
                  </a:extLst>
                </a:gridCol>
                <a:gridCol w="2367099">
                  <a:extLst>
                    <a:ext uri="{9D8B030D-6E8A-4147-A177-3AD203B41FA5}">
                      <a16:colId xmlns:a16="http://schemas.microsoft.com/office/drawing/2014/main" val="3312602503"/>
                    </a:ext>
                  </a:extLst>
                </a:gridCol>
              </a:tblGrid>
              <a:tr h="615587">
                <a:tc>
                  <a:txBody>
                    <a:bodyPr/>
                    <a:lstStyle/>
                    <a:p>
                      <a:pPr algn="ctr" fontAlgn="b"/>
                      <a:r>
                        <a:rPr lang="en-IN" sz="1200" b="0" i="0" u="none" strike="noStrike">
                          <a:solidFill>
                            <a:srgbClr val="000000"/>
                          </a:solidFill>
                          <a:effectLst/>
                          <a:latin typeface="Times New Roman" panose="02020603050405020304" pitchFamily="18" charset="0"/>
                          <a:cs typeface="Times New Roman" panose="02020603050405020304" pitchFamily="18" charset="0"/>
                        </a:rPr>
                        <a:t>Pi camera</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200" b="0" i="0" u="none" strike="noStrike" dirty="0">
                          <a:solidFill>
                            <a:srgbClr val="000000"/>
                          </a:solidFill>
                          <a:effectLst/>
                          <a:latin typeface="Times New Roman" panose="02020603050405020304" pitchFamily="18" charset="0"/>
                          <a:cs typeface="Times New Roman" panose="02020603050405020304" pitchFamily="18" charset="0"/>
                        </a:rPr>
                        <a:t>Arduino</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3708649"/>
                  </a:ext>
                </a:extLst>
              </a:tr>
              <a:tr h="615587">
                <a:tc>
                  <a:txBody>
                    <a:bodyPr/>
                    <a:lstStyle/>
                    <a:p>
                      <a:pPr algn="ctr" fontAlgn="b"/>
                      <a:r>
                        <a:rPr lang="en-IN" sz="1200" b="0" i="0" u="none" strike="noStrike" dirty="0">
                          <a:solidFill>
                            <a:srgbClr val="000000"/>
                          </a:solidFill>
                          <a:effectLst/>
                          <a:latin typeface="Times New Roman" panose="02020603050405020304" pitchFamily="18" charset="0"/>
                          <a:cs typeface="Times New Roman" panose="02020603050405020304" pitchFamily="18" charset="0"/>
                        </a:rPr>
                        <a:t>Earpiece/Speaker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Times New Roman" panose="02020603050405020304" pitchFamily="18" charset="0"/>
                          <a:cs typeface="Times New Roman" panose="02020603050405020304" pitchFamily="18" charset="0"/>
                        </a:rPr>
                        <a:t>Relay Module</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5544886"/>
                  </a:ext>
                </a:extLst>
              </a:tr>
              <a:tr h="615587">
                <a:tc>
                  <a:txBody>
                    <a:bodyPr/>
                    <a:lstStyle/>
                    <a:p>
                      <a:pPr algn="ctr" fontAlgn="b"/>
                      <a:r>
                        <a:rPr lang="en-IN" sz="1200" b="0" i="0" u="none" strike="noStrike">
                          <a:solidFill>
                            <a:srgbClr val="000000"/>
                          </a:solidFill>
                          <a:effectLst/>
                          <a:latin typeface="Times New Roman" panose="02020603050405020304" pitchFamily="18" charset="0"/>
                          <a:cs typeface="Times New Roman" panose="02020603050405020304" pitchFamily="18" charset="0"/>
                        </a:rPr>
                        <a:t>Raspberry Pi         </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Times New Roman" panose="02020603050405020304" pitchFamily="18" charset="0"/>
                          <a:cs typeface="Times New Roman" panose="02020603050405020304" pitchFamily="18" charset="0"/>
                        </a:rPr>
                        <a:t>Wifi module</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8897432"/>
                  </a:ext>
                </a:extLst>
              </a:tr>
              <a:tr h="615587">
                <a:tc>
                  <a:txBody>
                    <a:bodyPr/>
                    <a:lstStyle/>
                    <a:p>
                      <a:pPr algn="ctr" fontAlgn="b"/>
                      <a:r>
                        <a:rPr lang="en-IN" sz="1200" b="0" i="0" u="none" strike="noStrike">
                          <a:solidFill>
                            <a:srgbClr val="000000"/>
                          </a:solidFill>
                          <a:effectLst/>
                          <a:latin typeface="Times New Roman" panose="02020603050405020304" pitchFamily="18" charset="0"/>
                          <a:cs typeface="Times New Roman" panose="02020603050405020304" pitchFamily="18" charset="0"/>
                        </a:rPr>
                        <a:t>microphone              </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200" b="0" i="0" u="none" strike="noStrike" dirty="0">
                          <a:solidFill>
                            <a:srgbClr val="000000"/>
                          </a:solidFill>
                          <a:effectLst/>
                          <a:latin typeface="Times New Roman" panose="02020603050405020304" pitchFamily="18" charset="0"/>
                          <a:cs typeface="Times New Roman" panose="02020603050405020304" pitchFamily="18" charset="0"/>
                        </a:rPr>
                        <a:t>Appliances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1420836"/>
                  </a:ext>
                </a:extLst>
              </a:tr>
            </a:tbl>
          </a:graphicData>
        </a:graphic>
      </p:graphicFrame>
    </p:spTree>
    <p:extLst>
      <p:ext uri="{BB962C8B-B14F-4D97-AF65-F5344CB8AC3E}">
        <p14:creationId xmlns:p14="http://schemas.microsoft.com/office/powerpoint/2010/main" val="949301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577DD-030C-21B5-9CA5-AC4C93018CA2}"/>
              </a:ext>
            </a:extLst>
          </p:cNvPr>
          <p:cNvSpPr>
            <a:spLocks noGrp="1"/>
          </p:cNvSpPr>
          <p:nvPr>
            <p:ph type="title"/>
          </p:nvPr>
        </p:nvSpPr>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CONCLUSION</a:t>
            </a:r>
          </a:p>
        </p:txBody>
      </p:sp>
      <p:sp>
        <p:nvSpPr>
          <p:cNvPr id="3" name="Content Placeholder 2">
            <a:extLst>
              <a:ext uri="{FF2B5EF4-FFF2-40B4-BE49-F238E27FC236}">
                <a16:creationId xmlns:a16="http://schemas.microsoft.com/office/drawing/2014/main" id="{EB25FA3D-0BEA-742B-40E8-7BB2880FF4D0}"/>
              </a:ext>
            </a:extLst>
          </p:cNvPr>
          <p:cNvSpPr>
            <a:spLocks noGrp="1"/>
          </p:cNvSpPr>
          <p:nvPr>
            <p:ph idx="1"/>
          </p:nvPr>
        </p:nvSpPr>
        <p:spPr>
          <a:xfrm>
            <a:off x="764275" y="1247917"/>
            <a:ext cx="8229600" cy="3394472"/>
          </a:xfrm>
        </p:spPr>
        <p:txBody>
          <a:bodyPr/>
          <a:lstStyle/>
          <a:p>
            <a:pPr marL="0" indent="0">
              <a:buNone/>
            </a:pPr>
            <a:r>
              <a:rPr lang="en-US" sz="1600" b="0" i="0" dirty="0">
                <a:effectLst/>
                <a:latin typeface="Calibri" panose="020F0502020204030204" pitchFamily="34" charset="0"/>
                <a:ea typeface="Calibri" panose="020F0502020204030204" pitchFamily="34" charset="0"/>
                <a:cs typeface="Calibri" panose="020F0502020204030204" pitchFamily="34" charset="0"/>
              </a:rPr>
              <a:t>The proposed smart home system integrates advanced technologies like IoT, </a:t>
            </a:r>
            <a:r>
              <a:rPr lang="en-US" sz="1600" b="0" i="0" dirty="0" err="1">
                <a:effectLst/>
                <a:latin typeface="Calibri" panose="020F0502020204030204" pitchFamily="34" charset="0"/>
                <a:ea typeface="Calibri" panose="020F0502020204030204" pitchFamily="34" charset="0"/>
                <a:cs typeface="Calibri" panose="020F0502020204030204" pitchFamily="34" charset="0"/>
              </a:rPr>
              <a:t>WiFi</a:t>
            </a:r>
            <a:r>
              <a:rPr lang="en-US" sz="1600" b="0" i="0" dirty="0">
                <a:effectLst/>
                <a:latin typeface="Calibri" panose="020F0502020204030204" pitchFamily="34" charset="0"/>
                <a:ea typeface="Calibri" panose="020F0502020204030204" pitchFamily="34" charset="0"/>
                <a:cs typeface="Calibri" panose="020F0502020204030204" pitchFamily="34" charset="0"/>
              </a:rPr>
              <a:t> connectivity, and microcontrollers to create a seamless and efficient living environment. By combining visitor communication features with home automation, this system enhances security, convenience, and energy efficiency. It leverages devices such as Raspberry Pi and Arduino to manage appliances and interact with visitors remotely, ensuring timely communication and reducing missed deliveries. The system's modular design allows for scalability and adaptability, making it accessible to a wide range of users. As smart home technology continues to evolve, integrating AI and IoT will further enhance its capabilities, providing a holistic and intelligent living experience that anticipates and responds to user needs.</a:t>
            </a:r>
            <a:endParaRPr lang="en-IN"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1498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Title 1"/>
          <p:cNvSpPr>
            <a:spLocks noGrp="1"/>
          </p:cNvSpPr>
          <p:nvPr>
            <p:ph type="title"/>
          </p:nvPr>
        </p:nvSpPr>
        <p:spPr>
          <a:xfrm>
            <a:off x="655320" y="427212"/>
            <a:ext cx="7406640" cy="624348"/>
          </a:xfrm>
        </p:spPr>
        <p:txBody>
          <a:bodyPr>
            <a:normAutofit/>
          </a:bodyPr>
          <a:lstStyle/>
          <a:p>
            <a:r>
              <a:rPr lang="en-IN" sz="2800" b="1" dirty="0">
                <a:latin typeface="Calibri" panose="020F0502020204030204" pitchFamily="34" charset="0"/>
                <a:ea typeface="Calibri" panose="020F0502020204030204" pitchFamily="34" charset="0"/>
                <a:cs typeface="Calibri" panose="020F0502020204030204" pitchFamily="34" charset="0"/>
              </a:rPr>
              <a:t>References</a:t>
            </a:r>
          </a:p>
        </p:txBody>
      </p:sp>
      <p:sp>
        <p:nvSpPr>
          <p:cNvPr id="1048620" name="Content Placeholder 2"/>
          <p:cNvSpPr>
            <a:spLocks noGrp="1"/>
          </p:cNvSpPr>
          <p:nvPr>
            <p:ph idx="1"/>
          </p:nvPr>
        </p:nvSpPr>
        <p:spPr>
          <a:xfrm>
            <a:off x="524984" y="1240173"/>
            <a:ext cx="8238744" cy="3296412"/>
          </a:xfrm>
        </p:spPr>
        <p:txBody>
          <a:bodyPr anchor="ctr">
            <a:noAutofit/>
          </a:bodyPr>
          <a:lstStyle/>
          <a:p>
            <a:pPr algn="just"/>
            <a:r>
              <a:rPr lang="en-IN" sz="1200" dirty="0">
                <a:latin typeface="Calibri" panose="020F0502020204030204" pitchFamily="34" charset="0"/>
                <a:ea typeface="Calibri" panose="020F0502020204030204" pitchFamily="34" charset="0"/>
                <a:cs typeface="Calibri" panose="020F0502020204030204" pitchFamily="34" charset="0"/>
              </a:rPr>
              <a:t>N. </a:t>
            </a:r>
            <a:r>
              <a:rPr lang="en-IN" sz="1200" dirty="0" err="1">
                <a:latin typeface="Calibri" panose="020F0502020204030204" pitchFamily="34" charset="0"/>
                <a:ea typeface="Calibri" panose="020F0502020204030204" pitchFamily="34" charset="0"/>
                <a:cs typeface="Calibri" panose="020F0502020204030204" pitchFamily="34" charset="0"/>
              </a:rPr>
              <a:t>Bagal</a:t>
            </a:r>
            <a:r>
              <a:rPr lang="en-IN" sz="1200" dirty="0">
                <a:latin typeface="Calibri" panose="020F0502020204030204" pitchFamily="34" charset="0"/>
                <a:ea typeface="Calibri" panose="020F0502020204030204" pitchFamily="34" charset="0"/>
                <a:cs typeface="Calibri" panose="020F0502020204030204" pitchFamily="34" charset="0"/>
              </a:rPr>
              <a:t> and S. Pandita, "Transmission of Audio Over Wireless Networks Using Raspberry Pi in Real-Time," International Journal of Innovative Research in Science, Engineering and Technology, vol. 4, no. 9, September 2015. </a:t>
            </a:r>
          </a:p>
          <a:p>
            <a:pPr algn="just"/>
            <a:r>
              <a:rPr lang="en-IN" sz="1200" dirty="0">
                <a:latin typeface="Calibri" panose="020F0502020204030204" pitchFamily="34" charset="0"/>
                <a:ea typeface="Calibri" panose="020F0502020204030204" pitchFamily="34" charset="0"/>
                <a:cs typeface="Calibri" panose="020F0502020204030204" pitchFamily="34" charset="0"/>
              </a:rPr>
              <a:t>V. A. Vyavahare, "Live Audio and Video Transmission System Using Raspberry Pi," International Journal of Innovative Research in Computer and Communication Engineering, vol. 4, no. 6, June 2016. </a:t>
            </a:r>
          </a:p>
          <a:p>
            <a:pPr algn="just"/>
            <a:r>
              <a:rPr lang="en-IN" sz="1200" dirty="0">
                <a:latin typeface="Calibri" panose="020F0502020204030204" pitchFamily="34" charset="0"/>
                <a:ea typeface="Calibri" panose="020F0502020204030204" pitchFamily="34" charset="0"/>
                <a:cs typeface="Calibri" panose="020F0502020204030204" pitchFamily="34" charset="0"/>
              </a:rPr>
              <a:t>J. </a:t>
            </a:r>
            <a:r>
              <a:rPr lang="en-IN" sz="1200" dirty="0" err="1">
                <a:latin typeface="Calibri" panose="020F0502020204030204" pitchFamily="34" charset="0"/>
                <a:ea typeface="Calibri" panose="020F0502020204030204" pitchFamily="34" charset="0"/>
                <a:cs typeface="Calibri" panose="020F0502020204030204" pitchFamily="34" charset="0"/>
              </a:rPr>
              <a:t>Malliss</a:t>
            </a:r>
            <a:r>
              <a:rPr lang="en-IN" sz="1200" dirty="0">
                <a:latin typeface="Calibri" panose="020F0502020204030204" pitchFamily="34" charset="0"/>
                <a:ea typeface="Calibri" panose="020F0502020204030204" pitchFamily="34" charset="0"/>
                <a:cs typeface="Calibri" panose="020F0502020204030204" pitchFamily="34" charset="0"/>
              </a:rPr>
              <a:t>, V. Patel, S. Yadav, H. Varun, and S. Patnaik, "Real Time Communication (RTC) Device using Raspberry Pi," International Journal of Scientific &amp; Engineering Research (IJSER), 2022. </a:t>
            </a:r>
          </a:p>
          <a:p>
            <a:pPr algn="just"/>
            <a:r>
              <a:rPr lang="en-IN" sz="1200" dirty="0">
                <a:latin typeface="Calibri" panose="020F0502020204030204" pitchFamily="34" charset="0"/>
                <a:ea typeface="Calibri" panose="020F0502020204030204" pitchFamily="34" charset="0"/>
                <a:cs typeface="Calibri" panose="020F0502020204030204" pitchFamily="34" charset="0"/>
              </a:rPr>
              <a:t>S. Sundar D.C.E et al., "Design and Analysis of Raspberry Pi Based Voice Communication System," International Journal of Advances in Engineering and Management (IJAEM), vol. 4, no. 6, June 2022. </a:t>
            </a:r>
          </a:p>
          <a:p>
            <a:pPr algn="just"/>
            <a:r>
              <a:rPr lang="en-IN" sz="1200" dirty="0">
                <a:latin typeface="Calibri" panose="020F0502020204030204" pitchFamily="34" charset="0"/>
                <a:ea typeface="Calibri" panose="020F0502020204030204" pitchFamily="34" charset="0"/>
                <a:cs typeface="Calibri" panose="020F0502020204030204" pitchFamily="34" charset="0"/>
              </a:rPr>
              <a:t>A. S. M. Rahman et al., "Voice Control Device using Raspberry Pi," IEEE, 2020 International Conference on Electrical, Computer and Communication Engineering (ECCE), 15-17 January 2020. </a:t>
            </a:r>
          </a:p>
          <a:p>
            <a:pPr algn="just"/>
            <a:r>
              <a:rPr lang="en-IN" sz="1200" dirty="0">
                <a:latin typeface="Calibri" panose="020F0502020204030204" pitchFamily="34" charset="0"/>
                <a:ea typeface="Calibri" panose="020F0502020204030204" pitchFamily="34" charset="0"/>
                <a:cs typeface="Calibri" panose="020F0502020204030204" pitchFamily="34" charset="0"/>
              </a:rPr>
              <a:t>S. M. A. Rahman et al., "Portable IP-based communication system using Raspberry Pi as a video and voice communication device," IEEE, 2018 International Conference on Electrical, Computer and Communication Engineering (ECCE), 19-21 February 2018.</a:t>
            </a:r>
            <a:endParaRPr lang="en-IN" sz="1200" b="0" i="0" dirty="0">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E154B-51D6-C92B-7CA4-82F32024F4EB}"/>
            </a:ext>
          </a:extLst>
        </p:cNvPr>
        <p:cNvGrpSpPr/>
        <p:nvPr/>
      </p:nvGrpSpPr>
      <p:grpSpPr>
        <a:xfrm>
          <a:off x="0" y="0"/>
          <a:ext cx="0" cy="0"/>
          <a:chOff x="0" y="0"/>
          <a:chExt cx="0" cy="0"/>
        </a:xfrm>
      </p:grpSpPr>
      <p:sp>
        <p:nvSpPr>
          <p:cNvPr id="1048619" name="Title 1">
            <a:extLst>
              <a:ext uri="{FF2B5EF4-FFF2-40B4-BE49-F238E27FC236}">
                <a16:creationId xmlns:a16="http://schemas.microsoft.com/office/drawing/2014/main" id="{78B27816-402E-2885-8388-C04F40607D70}"/>
              </a:ext>
            </a:extLst>
          </p:cNvPr>
          <p:cNvSpPr>
            <a:spLocks noGrp="1"/>
          </p:cNvSpPr>
          <p:nvPr>
            <p:ph type="title"/>
          </p:nvPr>
        </p:nvSpPr>
        <p:spPr>
          <a:xfrm>
            <a:off x="655320" y="427212"/>
            <a:ext cx="7406640" cy="624348"/>
          </a:xfrm>
        </p:spPr>
        <p:txBody>
          <a:bodyPr>
            <a:normAutofit/>
          </a:bodyPr>
          <a:lstStyle/>
          <a:p>
            <a:r>
              <a:rPr lang="en-IN" sz="2800" b="1" dirty="0">
                <a:latin typeface="Calibri" panose="020F0502020204030204" pitchFamily="34" charset="0"/>
                <a:ea typeface="Calibri" panose="020F0502020204030204" pitchFamily="34" charset="0"/>
                <a:cs typeface="Calibri" panose="020F0502020204030204" pitchFamily="34" charset="0"/>
              </a:rPr>
              <a:t>References</a:t>
            </a:r>
          </a:p>
        </p:txBody>
      </p:sp>
      <p:sp>
        <p:nvSpPr>
          <p:cNvPr id="1048620" name="Content Placeholder 2">
            <a:extLst>
              <a:ext uri="{FF2B5EF4-FFF2-40B4-BE49-F238E27FC236}">
                <a16:creationId xmlns:a16="http://schemas.microsoft.com/office/drawing/2014/main" id="{B1CFBB14-5791-8C23-8188-1504583C846E}"/>
              </a:ext>
            </a:extLst>
          </p:cNvPr>
          <p:cNvSpPr>
            <a:spLocks noGrp="1"/>
          </p:cNvSpPr>
          <p:nvPr>
            <p:ph idx="1"/>
          </p:nvPr>
        </p:nvSpPr>
        <p:spPr>
          <a:xfrm>
            <a:off x="524984" y="1322058"/>
            <a:ext cx="8238744" cy="3296412"/>
          </a:xfrm>
        </p:spPr>
        <p:txBody>
          <a:bodyPr anchor="ctr">
            <a:noAutofit/>
          </a:bodyPr>
          <a:lstStyle/>
          <a:p>
            <a:r>
              <a:rPr lang="en-IN" sz="1200" i="0" dirty="0">
                <a:effectLst/>
                <a:latin typeface="Calibri" panose="020F0502020204030204" pitchFamily="34" charset="0"/>
                <a:ea typeface="Calibri" panose="020F0502020204030204" pitchFamily="34" charset="0"/>
                <a:cs typeface="Calibri" panose="020F0502020204030204" pitchFamily="34" charset="0"/>
              </a:rPr>
              <a:t>A. P. Nirmala, V. Asha, P. Chandra, H. Priya, and S. Raj, "IoT based Secure Smart Home Automation System," IEEE (2022).</a:t>
            </a:r>
          </a:p>
          <a:p>
            <a:pPr>
              <a:spcBef>
                <a:spcPts val="300"/>
              </a:spcBef>
            </a:pPr>
            <a:r>
              <a:rPr lang="en-IN" sz="1200" i="0" dirty="0">
                <a:effectLst/>
                <a:latin typeface="Calibri" panose="020F0502020204030204" pitchFamily="34" charset="0"/>
                <a:ea typeface="Calibri" panose="020F0502020204030204" pitchFamily="34" charset="0"/>
                <a:cs typeface="Calibri" panose="020F0502020204030204" pitchFamily="34" charset="0"/>
              </a:rPr>
              <a:t>P. Anuradha, K. Vasanth, G. Renuka, and A. Rajeshwar Rao, "IoT based enabling home automation system for individuals with diverse disabilities," Scopus-indexed Journal (2023).</a:t>
            </a:r>
          </a:p>
          <a:p>
            <a:pPr>
              <a:spcBef>
                <a:spcPts val="300"/>
              </a:spcBef>
            </a:pPr>
            <a:r>
              <a:rPr lang="en-IN" sz="1200" i="0" dirty="0">
                <a:effectLst/>
                <a:latin typeface="Calibri" panose="020F0502020204030204" pitchFamily="34" charset="0"/>
                <a:ea typeface="Calibri" panose="020F0502020204030204" pitchFamily="34" charset="0"/>
                <a:cs typeface="Calibri" panose="020F0502020204030204" pitchFamily="34" charset="0"/>
              </a:rPr>
              <a:t>S. R. N. Reddy, P. N. Reddy, and K. S. Prasad, "IoT based Smart Home Automation System using Arduino and </a:t>
            </a:r>
            <a:r>
              <a:rPr lang="en-IN" sz="1200" i="0" dirty="0" err="1">
                <a:effectLst/>
                <a:latin typeface="Calibri" panose="020F0502020204030204" pitchFamily="34" charset="0"/>
                <a:ea typeface="Calibri" panose="020F0502020204030204" pitchFamily="34" charset="0"/>
                <a:cs typeface="Calibri" panose="020F0502020204030204" pitchFamily="34" charset="0"/>
              </a:rPr>
              <a:t>WiFi</a:t>
            </a:r>
            <a:r>
              <a:rPr lang="en-IN" sz="1200" i="0" dirty="0">
                <a:effectLst/>
                <a:latin typeface="Calibri" panose="020F0502020204030204" pitchFamily="34" charset="0"/>
                <a:ea typeface="Calibri" panose="020F0502020204030204" pitchFamily="34" charset="0"/>
                <a:cs typeface="Calibri" panose="020F0502020204030204" pitchFamily="34" charset="0"/>
              </a:rPr>
              <a:t> Module," IEEE (2020).</a:t>
            </a:r>
          </a:p>
          <a:p>
            <a:pPr>
              <a:spcBef>
                <a:spcPts val="300"/>
              </a:spcBef>
            </a:pPr>
            <a:r>
              <a:rPr lang="en-IN" sz="1200" i="0" dirty="0">
                <a:effectLst/>
                <a:latin typeface="Calibri" panose="020F0502020204030204" pitchFamily="34" charset="0"/>
                <a:ea typeface="Calibri" panose="020F0502020204030204" pitchFamily="34" charset="0"/>
                <a:cs typeface="Calibri" panose="020F0502020204030204" pitchFamily="34" charset="0"/>
              </a:rPr>
              <a:t>M. S. Khan, M. A. Siddiqui, and M. A. Khan, "IoT based Smart Home Automation System using Arduino and </a:t>
            </a:r>
            <a:r>
              <a:rPr lang="en-IN" sz="1200" i="0" dirty="0" err="1">
                <a:effectLst/>
                <a:latin typeface="Calibri" panose="020F0502020204030204" pitchFamily="34" charset="0"/>
                <a:ea typeface="Calibri" panose="020F0502020204030204" pitchFamily="34" charset="0"/>
                <a:cs typeface="Calibri" panose="020F0502020204030204" pitchFamily="34" charset="0"/>
              </a:rPr>
              <a:t>NodeMCU</a:t>
            </a:r>
            <a:r>
              <a:rPr lang="en-IN" sz="1200" i="0" dirty="0">
                <a:effectLst/>
                <a:latin typeface="Calibri" panose="020F0502020204030204" pitchFamily="34" charset="0"/>
                <a:ea typeface="Calibri" panose="020F0502020204030204" pitchFamily="34" charset="0"/>
                <a:cs typeface="Calibri" panose="020F0502020204030204" pitchFamily="34" charset="0"/>
              </a:rPr>
              <a:t>," IEEE (2018).</a:t>
            </a:r>
          </a:p>
          <a:p>
            <a:pPr>
              <a:spcBef>
                <a:spcPts val="300"/>
              </a:spcBef>
            </a:pPr>
            <a:r>
              <a:rPr lang="en-IN" sz="1200" i="0" dirty="0">
                <a:effectLst/>
                <a:latin typeface="Calibri" panose="020F0502020204030204" pitchFamily="34" charset="0"/>
                <a:ea typeface="Calibri" panose="020F0502020204030204" pitchFamily="34" charset="0"/>
                <a:cs typeface="Calibri" panose="020F0502020204030204" pitchFamily="34" charset="0"/>
              </a:rPr>
              <a:t>A. Kumar, S. Gupta, and R. Kumar, "IoT based Home Automation System using Arduino and </a:t>
            </a:r>
            <a:r>
              <a:rPr lang="en-IN" sz="1200" i="0" dirty="0" err="1">
                <a:effectLst/>
                <a:latin typeface="Calibri" panose="020F0502020204030204" pitchFamily="34" charset="0"/>
                <a:ea typeface="Calibri" panose="020F0502020204030204" pitchFamily="34" charset="0"/>
                <a:cs typeface="Calibri" panose="020F0502020204030204" pitchFamily="34" charset="0"/>
              </a:rPr>
              <a:t>WiFi</a:t>
            </a:r>
            <a:r>
              <a:rPr lang="en-IN" sz="1200" i="0" dirty="0">
                <a:effectLst/>
                <a:latin typeface="Calibri" panose="020F0502020204030204" pitchFamily="34" charset="0"/>
                <a:ea typeface="Calibri" panose="020F0502020204030204" pitchFamily="34" charset="0"/>
                <a:cs typeface="Calibri" panose="020F0502020204030204" pitchFamily="34" charset="0"/>
              </a:rPr>
              <a:t> Module," IEEE (2017).</a:t>
            </a:r>
          </a:p>
          <a:p>
            <a:pPr>
              <a:spcBef>
                <a:spcPts val="300"/>
              </a:spcBef>
            </a:pPr>
            <a:r>
              <a:rPr lang="en-IN" sz="1200" i="0" dirty="0">
                <a:effectLst/>
                <a:latin typeface="Calibri" panose="020F0502020204030204" pitchFamily="34" charset="0"/>
                <a:ea typeface="Calibri" panose="020F0502020204030204" pitchFamily="34" charset="0"/>
                <a:cs typeface="Calibri" panose="020F0502020204030204" pitchFamily="34" charset="0"/>
              </a:rPr>
              <a:t>S. R. N. Reddy, P. N. Reddy, and K. S. Prasad, "IoT based Smart Home Automation System using Arduino and </a:t>
            </a:r>
            <a:r>
              <a:rPr lang="en-IN" sz="1200" i="0" dirty="0" err="1">
                <a:effectLst/>
                <a:latin typeface="Calibri" panose="020F0502020204030204" pitchFamily="34" charset="0"/>
                <a:ea typeface="Calibri" panose="020F0502020204030204" pitchFamily="34" charset="0"/>
                <a:cs typeface="Calibri" panose="020F0502020204030204" pitchFamily="34" charset="0"/>
              </a:rPr>
              <a:t>WiFi</a:t>
            </a:r>
            <a:r>
              <a:rPr lang="en-IN" sz="1200" i="0" dirty="0">
                <a:effectLst/>
                <a:latin typeface="Calibri" panose="020F0502020204030204" pitchFamily="34" charset="0"/>
                <a:ea typeface="Calibri" panose="020F0502020204030204" pitchFamily="34" charset="0"/>
                <a:cs typeface="Calibri" panose="020F0502020204030204" pitchFamily="34" charset="0"/>
              </a:rPr>
              <a:t> Module," IEEE (2020).</a:t>
            </a:r>
          </a:p>
          <a:p>
            <a:pPr>
              <a:spcBef>
                <a:spcPts val="300"/>
              </a:spcBef>
            </a:pPr>
            <a:r>
              <a:rPr lang="en-IN" sz="1200" i="0" dirty="0">
                <a:effectLst/>
                <a:latin typeface="Calibri" panose="020F0502020204030204" pitchFamily="34" charset="0"/>
                <a:ea typeface="Calibri" panose="020F0502020204030204" pitchFamily="34" charset="0"/>
                <a:cs typeface="Calibri" panose="020F0502020204030204" pitchFamily="34" charset="0"/>
              </a:rPr>
              <a:t>M. S. Khan, M. A. Siddiqui, and M. A. Khan, "IoT based Smart Home Automation System using Arduino and </a:t>
            </a:r>
            <a:r>
              <a:rPr lang="en-IN" sz="1200" i="0" dirty="0" err="1">
                <a:effectLst/>
                <a:latin typeface="Calibri" panose="020F0502020204030204" pitchFamily="34" charset="0"/>
                <a:ea typeface="Calibri" panose="020F0502020204030204" pitchFamily="34" charset="0"/>
                <a:cs typeface="Calibri" panose="020F0502020204030204" pitchFamily="34" charset="0"/>
              </a:rPr>
              <a:t>NodeMCU</a:t>
            </a:r>
            <a:r>
              <a:rPr lang="en-IN" sz="1200" i="0" dirty="0">
                <a:effectLst/>
                <a:latin typeface="Calibri" panose="020F0502020204030204" pitchFamily="34" charset="0"/>
                <a:ea typeface="Calibri" panose="020F0502020204030204" pitchFamily="34" charset="0"/>
                <a:cs typeface="Calibri" panose="020F0502020204030204" pitchFamily="34" charset="0"/>
              </a:rPr>
              <a:t>," IEEE (2018).</a:t>
            </a:r>
          </a:p>
          <a:p>
            <a:pPr>
              <a:spcBef>
                <a:spcPts val="300"/>
              </a:spcBef>
            </a:pPr>
            <a:r>
              <a:rPr lang="en-IN" sz="1200" i="0" dirty="0">
                <a:effectLst/>
                <a:latin typeface="Calibri" panose="020F0502020204030204" pitchFamily="34" charset="0"/>
                <a:ea typeface="Calibri" panose="020F0502020204030204" pitchFamily="34" charset="0"/>
                <a:cs typeface="Calibri" panose="020F0502020204030204" pitchFamily="34" charset="0"/>
              </a:rPr>
              <a:t>A. Kumar, S. Gupta, and R. Kumar, "IoT based Home Automation System using Arduino and </a:t>
            </a:r>
            <a:r>
              <a:rPr lang="en-IN" sz="1200" i="0" dirty="0" err="1">
                <a:effectLst/>
                <a:latin typeface="Calibri" panose="020F0502020204030204" pitchFamily="34" charset="0"/>
                <a:ea typeface="Calibri" panose="020F0502020204030204" pitchFamily="34" charset="0"/>
                <a:cs typeface="Calibri" panose="020F0502020204030204" pitchFamily="34" charset="0"/>
              </a:rPr>
              <a:t>WiFi</a:t>
            </a:r>
            <a:r>
              <a:rPr lang="en-IN" sz="1200" i="0" dirty="0">
                <a:effectLst/>
                <a:latin typeface="Calibri" panose="020F0502020204030204" pitchFamily="34" charset="0"/>
                <a:ea typeface="Calibri" panose="020F0502020204030204" pitchFamily="34" charset="0"/>
                <a:cs typeface="Calibri" panose="020F0502020204030204" pitchFamily="34" charset="0"/>
              </a:rPr>
              <a:t> Module," IEEE (2017).</a:t>
            </a:r>
          </a:p>
        </p:txBody>
      </p:sp>
    </p:spTree>
    <p:extLst>
      <p:ext uri="{BB962C8B-B14F-4D97-AF65-F5344CB8AC3E}">
        <p14:creationId xmlns:p14="http://schemas.microsoft.com/office/powerpoint/2010/main" val="3056319974"/>
      </p:ext>
    </p:extLst>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372</TotalTime>
  <Words>2283</Words>
  <Application>Microsoft Office PowerPoint</Application>
  <PresentationFormat>On-screen Show (16:9)</PresentationFormat>
  <Paragraphs>139</Paragraphs>
  <Slides>23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AngsanaUPC</vt:lpstr>
      <vt:lpstr>Arial</vt:lpstr>
      <vt:lpstr>Calibri</vt:lpstr>
      <vt:lpstr>Times New Roman</vt:lpstr>
      <vt:lpstr>Default Design</vt:lpstr>
      <vt:lpstr>PowerPoint Presentation</vt:lpstr>
      <vt:lpstr>Problem Statement</vt:lpstr>
      <vt:lpstr>Objectives</vt:lpstr>
      <vt:lpstr>Outcomes</vt:lpstr>
      <vt:lpstr>LITERATURE REVIEW</vt:lpstr>
      <vt:lpstr>LITERATURE REVIEW</vt:lpstr>
      <vt:lpstr>Requirements</vt:lpstr>
      <vt:lpstr>Architecture Diagram</vt:lpstr>
      <vt:lpstr>SYSTEM CONNECTIONS</vt:lpstr>
      <vt:lpstr>SYSTEM CONNECTIONS</vt:lpstr>
      <vt:lpstr>SYSTEM CONNECTIONS</vt:lpstr>
      <vt:lpstr>APP INTERFACE</vt:lpstr>
      <vt:lpstr>PowerPoint Presentation</vt:lpstr>
      <vt:lpstr>UML REPRESENTATION</vt:lpstr>
      <vt:lpstr>Audio Communication with Raspberry pi </vt:lpstr>
      <vt:lpstr>RESULTS</vt:lpstr>
      <vt:lpstr>PowerPoint Presentation</vt:lpstr>
      <vt:lpstr>PowerPoint Presentation</vt:lpstr>
      <vt:lpstr>PowerPoint Presentation</vt:lpstr>
      <vt:lpstr>Components</vt:lpstr>
      <vt:lpstr>CONCLUSION</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YIELD PREDICTION Domain: Big Data and Data Analytics Application area: Agriculture</dc:title>
  <dc:creator>anil</dc:creator>
  <cp:lastModifiedBy>Sashank Sai</cp:lastModifiedBy>
  <cp:revision>20</cp:revision>
  <dcterms:created xsi:type="dcterms:W3CDTF">2024-02-13T09:53:34Z</dcterms:created>
  <dcterms:modified xsi:type="dcterms:W3CDTF">2025-05-03T06:05:35Z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46AF6C618D124E91BB2E9C19E1B41FB7_13</vt:lpwstr>
  </property>
  <property fmtid="{D5CDD505-2E9C-101B-9397-08002B2CF9AE}" pid="3" name="KSOProductBuildVer">
    <vt:lpwstr>1033-12.2.0.13431</vt:lpwstr>
  </property>
</Properties>
</file>